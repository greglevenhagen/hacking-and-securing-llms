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49"/>
    <p:restoredTop sz="94693"/>
  </p:normalViewPr>
  <p:slideViewPr>
    <p:cSldViewPr snapToGrid="0" snapToObjects="1">
      <p:cViewPr varScale="1">
        <p:scale>
          <a:sx n="146" d="100"/>
          <a:sy n="146" d="100"/>
        </p:scale>
        <p:origin x="200" y="9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71600"/>
            <a:ext cx="11277295" cy="254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006622"/>
                </a:solidFill>
                <a:latin typeface="Consolas"/>
              </a:defRPr>
            </a:pPr>
            <a:r>
              <a:t>01001000 01000001 01000011 01001011  //  4C 4C 4D  //  SEC::BREACH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4800" b="1">
                <a:solidFill>
                  <a:srgbClr val="00FF41"/>
                </a:solidFill>
                <a:latin typeface="Consolas"/>
              </a:defRPr>
            </a:pPr>
            <a:r>
              <a:rPr dirty="0">
                <a:solidFill>
                  <a:schemeClr val="bg1"/>
                </a:solidFill>
              </a:rPr>
              <a:t>HACKING AND SECURING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4484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800" b="0">
                <a:solidFill>
                  <a:srgbClr val="FFFFFF"/>
                </a:solidFill>
                <a:latin typeface="Segoe UI"/>
              </a:defRPr>
            </a:pPr>
            <a:r>
              <a:rPr dirty="0">
                <a:solidFill>
                  <a:srgbClr val="00CC32"/>
                </a:solidFill>
              </a:rPr>
              <a:t>Live Attacks, Broken Defenses, and Safer AI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754880"/>
            <a:ext cx="11277295" cy="254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647" y="5223535"/>
            <a:ext cx="8534095" cy="1369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00CC33"/>
                </a:solidFill>
                <a:latin typeface="Consolas"/>
              </a:defRPr>
            </a:pPr>
            <a:r>
              <a:rPr lang="en-US" sz="2000" dirty="0">
                <a:solidFill>
                  <a:schemeClr val="bg1"/>
                </a:solidFill>
              </a:rPr>
              <a:t>Greg Levenhagen</a:t>
            </a:r>
          </a:p>
          <a:p>
            <a:pPr>
              <a:spcAft>
                <a:spcPts val="600"/>
              </a:spcAft>
              <a:defRPr sz="1600" b="0">
                <a:solidFill>
                  <a:srgbClr val="00CC33"/>
                </a:solidFill>
                <a:latin typeface="Consolas"/>
              </a:defRPr>
            </a:pPr>
            <a:r>
              <a:rPr lang="en-US" dirty="0"/>
              <a:t>Technical Fellow, VP of AI @ NRI</a:t>
            </a:r>
          </a:p>
          <a:p>
            <a:pPr>
              <a:spcAft>
                <a:spcPts val="600"/>
              </a:spcAft>
              <a:defRPr sz="1600" b="0">
                <a:solidFill>
                  <a:srgbClr val="00CC33"/>
                </a:solidFill>
                <a:latin typeface="Consolas"/>
              </a:defRPr>
            </a:pPr>
            <a:r>
              <a:rPr lang="en-US" dirty="0"/>
              <a:t>Microsoft AI MVP &amp; Regional Director</a:t>
            </a:r>
          </a:p>
          <a:p>
            <a:pPr>
              <a:spcAft>
                <a:spcPts val="600"/>
              </a:spcAft>
              <a:defRPr sz="1600" b="0">
                <a:solidFill>
                  <a:srgbClr val="00CC33"/>
                </a:solidFill>
                <a:latin typeface="Consolas"/>
              </a:defRPr>
            </a:pPr>
            <a:r>
              <a:rPr lang="en-US" dirty="0"/>
              <a:t>https://</a:t>
            </a:r>
            <a:r>
              <a:rPr lang="en-US" dirty="0" err="1"/>
              <a:t>www.linkedIn.com</a:t>
            </a:r>
            <a:r>
              <a:rPr lang="en-US" dirty="0"/>
              <a:t>/in/</a:t>
            </a:r>
            <a:r>
              <a:rPr lang="en-US" dirty="0" err="1"/>
              <a:t>GregLevenhagen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0080" y="6217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00CC33"/>
                </a:solidFill>
                <a:latin typeface="Consolas"/>
              </a:defRPr>
            </a:pPr>
            <a:r>
              <a:t>&gt; 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FF0044"/>
                </a:solidFill>
                <a:latin typeface="Consolas"/>
              </a:defRPr>
            </a:pPr>
            <a:r>
              <a:t>// THE THREAT LANDSCAPE — WHY THIS MATTERS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7295" cy="25400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651760" cy="128016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0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0044"/>
                </a:solidFill>
                <a:latin typeface="Consolas"/>
              </a:defRPr>
            </a:pPr>
            <a:r>
              <a:t>56.4%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increase in AI security</a:t>
            </a:r>
            <a:br/>
            <a:r>
              <a:t>incidents YoY (Stanford HAI)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097280"/>
            <a:ext cx="2651760" cy="128016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0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2900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0044"/>
                </a:solidFill>
                <a:latin typeface="Consolas"/>
              </a:defRPr>
            </a:pPr>
            <a:r>
              <a:t>300K+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69164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ChatGPT credentials found</a:t>
            </a:r>
            <a:br/>
            <a:r>
              <a:t>in infostealer malware (IBM)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097280"/>
            <a:ext cx="2651760" cy="128016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364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D700"/>
                </a:solidFill>
                <a:latin typeface="Consolas"/>
              </a:defRPr>
            </a:pPr>
            <a:r>
              <a:t>CVSS 9.8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9164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prompt injection CVE</a:t>
            </a:r>
            <a:br/>
            <a:r>
              <a:t>in Cursor IDE (2025)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097280"/>
            <a:ext cx="2651760" cy="128016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8C00"/>
                </a:solidFill>
                <a:latin typeface="Consolas"/>
              </a:defRPr>
            </a:pPr>
            <a:r>
              <a:t>24 hrs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169164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GPT-5 jailbroken after</a:t>
            </a:r>
            <a:br/>
            <a:r>
              <a:t>release by SPLX (Jan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F0044"/>
                </a:solidFill>
                <a:latin typeface="Consolas"/>
              </a:defRPr>
            </a:pPr>
            <a:r>
              <a:t>RECENT INCIDENTS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73552"/>
            <a:ext cx="109728" cy="109728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31546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GitHub Copilot RCE (CVE-2025-53773)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1546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Segoe UI"/>
              </a:defRPr>
            </a:pPr>
            <a:r>
              <a:t>Prompt injection in PR descriptions enabled remote code execution — CVSS 9.6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959352"/>
            <a:ext cx="109728" cy="109728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38404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Microsoft 365 Copilot "EchoLeak"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8404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Segoe UI"/>
              </a:defRPr>
            </a:pPr>
            <a:r>
              <a:t>Zero-click prompt injection silently exfiltrated enterprise data across tenants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45152"/>
            <a:ext cx="109728" cy="109728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5262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DeepSeek DeepThink-R1 Backdoor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5262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Segoe UI"/>
              </a:defRPr>
            </a:pPr>
            <a:r>
              <a:t>Hidden prompts in GitHub code comments poisoned fine-tuning; backdoor activated months later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330952"/>
            <a:ext cx="109728" cy="109728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212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"Shadow Escape" MCP Exploit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52120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Segoe UI"/>
              </a:defRPr>
            </a:pPr>
            <a:r>
              <a:t>Zero-click exploit targeting Model Context Protocol agents — full tool takeover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016752"/>
            <a:ext cx="109728" cy="109728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0120" y="58978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Drift/Salesforce OAuth Attack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58978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Segoe UI"/>
              </a:defRPr>
            </a:pPr>
            <a:r>
              <a:t>Stolen OAuth tokens via AI integration compromised 700+ organizations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888888"/>
                </a:solidFill>
                <a:latin typeface="Consolas"/>
              </a:defRPr>
            </a:pPr>
            <a:r>
              <a:t>Sources: IBM X-Force 2026, Stanford HAI, Cycode, Operant AI, Reco.ai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FF8C00"/>
                </a:solidFill>
                <a:latin typeface="Consolas"/>
              </a:defRPr>
            </a:pPr>
            <a:r>
              <a:t>// OWASP TOP 10 FOR LLM APPLICATIONS (2025)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7295" cy="254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0044"/>
                </a:solidFill>
                <a:latin typeface="Consolas"/>
              </a:defRPr>
            </a:pPr>
            <a:r>
              <a:t>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515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FF0044"/>
                </a:solidFill>
                <a:latin typeface="Consolas"/>
              </a:defRPr>
            </a:pPr>
            <a:r>
              <a:t>LLM01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051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Prompt 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0515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Consolas"/>
              </a:defRPr>
            </a:pPr>
            <a:r>
              <a:t>#1 again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4533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0044"/>
                </a:solidFill>
                <a:latin typeface="Consolas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54533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FF0044"/>
                </a:solidFill>
                <a:latin typeface="Consolas"/>
              </a:defRPr>
            </a:pPr>
            <a:r>
              <a:t>LLM02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5453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Sensitive Information Disclosure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54533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Consolas"/>
              </a:defRPr>
            </a:pPr>
            <a:r>
              <a:t>Jumped from #6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391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D700"/>
                </a:solidFill>
                <a:latin typeface="Consolas"/>
              </a:defRPr>
            </a:pPr>
            <a:r>
              <a:t>#3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3911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LLM03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0391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Supply Chain Vulnerabilities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0391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Consolas"/>
              </a:defRPr>
            </a:pPr>
            <a:r>
              <a:t>Unchanged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3288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D700"/>
                </a:solidFill>
                <a:latin typeface="Consolas"/>
              </a:defRPr>
            </a:pPr>
            <a:r>
              <a:t>#4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5328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LLM04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532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Data and Model Poisoning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53288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Consolas"/>
              </a:defRPr>
            </a:pPr>
            <a:r>
              <a:t>Expanded: RAG + fine-tune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2666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D700"/>
                </a:solidFill>
                <a:latin typeface="Consolas"/>
              </a:defRPr>
            </a:pPr>
            <a:r>
              <a:t>#5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02666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LLM05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026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Improper Output Handling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02666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Consolas"/>
              </a:defRPr>
            </a:pPr>
            <a:r>
              <a:t>Unchanged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20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FF41"/>
                </a:solidFill>
                <a:latin typeface="Consolas"/>
              </a:defRPr>
            </a:pPr>
            <a:r>
              <a:t>#6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20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00FF41"/>
                </a:solidFill>
                <a:latin typeface="Consolas"/>
              </a:defRPr>
            </a:pPr>
            <a:r>
              <a:t>LLM06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3520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Excessive Agency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5204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Consolas"/>
              </a:defRPr>
            </a:pPr>
            <a:r>
              <a:t>NEW — agentic AI risk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0142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FF41"/>
                </a:solidFill>
                <a:latin typeface="Consolas"/>
              </a:defRPr>
            </a:pPr>
            <a:r>
              <a:t>#7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0142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00FF41"/>
                </a:solidFill>
                <a:latin typeface="Consolas"/>
              </a:defRPr>
            </a:pPr>
            <a:r>
              <a:t>LLM07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0142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System Prompt Leakage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01421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Consolas"/>
              </a:defRPr>
            </a:pPr>
            <a:r>
              <a:t>NEW — standalone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5079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FF41"/>
                </a:solidFill>
                <a:latin typeface="Consolas"/>
              </a:defRPr>
            </a:pPr>
            <a:r>
              <a:t>#8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5079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00FF41"/>
                </a:solidFill>
                <a:latin typeface="Consolas"/>
              </a:defRPr>
            </a:pPr>
            <a:r>
              <a:t>LLM08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Vector and Embedding Weaknesses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50799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Consolas"/>
              </a:defRPr>
            </a:pPr>
            <a:r>
              <a:t>NEW — RAG-specific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0017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E5FF"/>
                </a:solidFill>
                <a:latin typeface="Consolas"/>
              </a:defRPr>
            </a:pPr>
            <a:r>
              <a:t>#9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00176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00E5FF"/>
                </a:solidFill>
                <a:latin typeface="Consolas"/>
              </a:defRPr>
            </a:pPr>
            <a:r>
              <a:t>LLM09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0017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Misinformation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Consolas"/>
              </a:defRPr>
            </a:pPr>
            <a:r>
              <a:t>Replaces Overreliance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5591" y="5495544"/>
            <a:ext cx="5188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E5FF"/>
                </a:solidFill>
                <a:latin typeface="Consolas"/>
              </a:defRPr>
            </a:pPr>
            <a:r>
              <a:rPr dirty="0"/>
              <a:t>#10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49554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00E5FF"/>
                </a:solidFill>
                <a:latin typeface="Consolas"/>
              </a:defRPr>
            </a:pPr>
            <a:r>
              <a:t>LLM10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94560" y="54955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Unbounded Consumption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549554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888888"/>
                </a:solidFill>
                <a:latin typeface="Consolas"/>
              </a:defRPr>
            </a:pPr>
            <a:r>
              <a:t>NEW — DoS/resource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1584" y="6035040"/>
            <a:ext cx="11880714" cy="365760"/>
          </a:xfrm>
          <a:prstGeom prst="roundRect">
            <a:avLst/>
          </a:prstGeom>
          <a:solidFill>
            <a:srgbClr val="141414"/>
          </a:solidFill>
          <a:ln w="1905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81584" y="6079421"/>
            <a:ext cx="118807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BB86FC"/>
                </a:solidFill>
                <a:latin typeface="Consolas"/>
              </a:defRPr>
            </a:pPr>
            <a:r>
              <a:rPr dirty="0"/>
              <a:t>NEW DEC 2025:  OWASP Top 10 for Agentic Applications (ASI-01 to ASI-10) — goal hijacking, tool misuse, memory poisoning, cascading failures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HACKING AND SECURING LLMs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FF0044"/>
                </a:solidFill>
                <a:latin typeface="Consolas"/>
              </a:defRPr>
            </a:pPr>
            <a:r>
              <a:t>// PROMPT INJECTION — THE #1 VULNERABILITY (LLM01)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7295" cy="25400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474720" cy="137160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0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0044"/>
                </a:solidFill>
                <a:latin typeface="Consolas"/>
              </a:defRPr>
            </a:pPr>
            <a:r>
              <a:t>73%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of production LLM deployments</a:t>
            </a:r>
            <a:br/>
            <a:r>
              <a:t>contain prompt injection vulns</a:t>
            </a:r>
            <a:br/>
            <a:r>
              <a:t>(SQ Magazine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3474720" cy="137160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0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0044"/>
                </a:solidFill>
                <a:latin typeface="Consolas"/>
              </a:defRPr>
            </a:pPr>
            <a:r>
              <a:t>85%+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attack success rate with</a:t>
            </a:r>
            <a:br/>
            <a:r>
              <a:t>adaptive multi-turn techniques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06240"/>
            <a:ext cx="3474720" cy="137160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42976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D700"/>
                </a:solidFill>
                <a:latin typeface="Consolas"/>
              </a:defRPr>
            </a:pPr>
            <a:r>
              <a:t>34.7%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9204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of organizations have deployed</a:t>
            </a:r>
            <a:br/>
            <a:r>
              <a:t>dedicated injection defenses</a:t>
            </a:r>
            <a:br/>
            <a:r>
              <a:t>(Cisco 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0515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F0044"/>
                </a:solidFill>
                <a:latin typeface="Consolas"/>
              </a:defRPr>
            </a:pPr>
            <a:r>
              <a:t>ATTACK TAXONOMY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50876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0044"/>
                </a:solidFill>
                <a:latin typeface="Consolas"/>
              </a:defRPr>
            </a:pPr>
            <a:r>
              <a:t>DIRECT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783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Attacker crafts input that overrides the system prompt. “Ignore previous instructions and...” — the simplest and still most effective vector.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42316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0044"/>
                </a:solidFill>
                <a:latin typeface="Consolas"/>
              </a:defRPr>
            </a:pPr>
            <a:r>
              <a:t>INDIRECT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697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Malicious payload embedded in external data (web pages, documents, emails) that the LLM processes. The user never sees the attack.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33756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0044"/>
                </a:solidFill>
                <a:latin typeface="Consolas"/>
              </a:defRPr>
            </a:pPr>
            <a:r>
              <a:t>MULTI-TURN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611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Conversational manipulation across multiple exchanges. Gradually shifts context until the model complies with restricted requests.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25196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0044"/>
                </a:solidFill>
                <a:latin typeface="Consolas"/>
              </a:defRPr>
            </a:pPr>
            <a:r>
              <a:t>ENCODED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526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Payloads hidden via Base64, ROT13, Unicode, markdown, or language switching. Bypasses pattern-matching defenses.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0044"/>
                </a:solidFill>
                <a:latin typeface="Consolas"/>
              </a:defRPr>
            </a:pPr>
            <a:r>
              <a:t>TOOL-MEDIATED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4406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Injection through tool outputs, API responses, or RAG retrieval results. The model trusts “data” that contains instructions.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HACKING AND SECURING LLMs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// AGENT EXPLOITATION — THE EXPANDING ATTACK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7295" cy="2540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240280" cy="137160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D700"/>
                </a:solidFill>
                <a:latin typeface="Consolas"/>
              </a:defRPr>
            </a:pPr>
            <a:r>
              <a:t>82.4%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of models compromised</a:t>
            </a:r>
            <a:br/>
            <a:r>
              <a:t>via inter-agent comms</a:t>
            </a:r>
            <a:br/>
            <a:r>
              <a:t>(vs 41% direct injection)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097280"/>
            <a:ext cx="2240280" cy="137160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0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17520" y="11887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0044"/>
                </a:solidFill>
                <a:latin typeface="Consolas"/>
              </a:defRPr>
            </a:pPr>
            <a:r>
              <a:t>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1783080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of IT pros have seen</a:t>
            </a:r>
            <a:br/>
            <a:r>
              <a:t>agents perform</a:t>
            </a:r>
            <a:br/>
            <a:r>
              <a:t>unauthorized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097280"/>
            <a:ext cx="2240280" cy="137160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40680" y="11887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00E5FF"/>
                </a:solidFill>
                <a:latin typeface="Consolas"/>
              </a:defRPr>
            </a:pPr>
            <a: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783080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of enterprise apps will</a:t>
            </a:r>
            <a:br/>
            <a:r>
              <a:t>have embedded agents</a:t>
            </a:r>
            <a:br/>
            <a:r>
              <a:t>by 2026 (Gartner)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097280"/>
            <a:ext cx="2240280" cy="137160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39" y="11887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00FF41"/>
                </a:solidFill>
                <a:latin typeface="Consolas"/>
              </a:defRPr>
            </a:pPr>
            <a:r>
              <a:t>53%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19" y="1783080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of companies now use</a:t>
            </a:r>
            <a:br/>
            <a:r>
              <a:t>RAG or agentic</a:t>
            </a:r>
            <a:br/>
            <a:r>
              <a:t>pipelines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FFD700"/>
                </a:solidFill>
                <a:latin typeface="Consolas"/>
              </a:defRPr>
            </a:pPr>
            <a:r>
              <a:t>KEY RISK CATEGORIES (OWASP Agentic Top 10 + Databricks DASF v3.0)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55264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3154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Tool Misuse &amp; Escalation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15468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888888"/>
                </a:solidFill>
                <a:latin typeface="Segoe UI"/>
              </a:defRPr>
            </a:pPr>
            <a:r>
              <a:t>Agents call APIs, write code, execute shell commands — every tool is an attack surface. A read-only agent can be manipulated into admin actions.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968496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38679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Inter-Agent Trust Exploitation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86791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888888"/>
                </a:solidFill>
                <a:latin typeface="Segoe UI"/>
              </a:defRPr>
            </a:pPr>
            <a:r>
              <a:t>Models that resist direct malicious commands will execute identical payloads when requested by peer agents. Trust propagates attacks.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81728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5811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Memory &amp; Context Poisoning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4581144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888888"/>
                </a:solidFill>
                <a:latin typeface="Segoe UI"/>
              </a:defRPr>
            </a:pPr>
            <a:r>
              <a:t>Persistent injection across sessions. Poisoned context carries forward, corrupting future decisions without re-injection.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39496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29437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Cascading Pipeline Failures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5294376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888888"/>
                </a:solidFill>
                <a:latin typeface="Segoe UI"/>
              </a:defRPr>
            </a:pPr>
            <a:r>
              <a:t>One compromised agent in a multi-agent pipeline corrupts every downstream agent. Errors and attacks amplify through the chain.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108192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0120" y="60076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Discovery &amp; Traversal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6007608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888888"/>
                </a:solidFill>
                <a:latin typeface="Segoe UI"/>
              </a:defRPr>
            </a:pPr>
            <a:r>
              <a:t>Agents designed to “find solutions” traverse data paths and tool interfaces never intended for the requesting user.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HACKING AND SECURING LLMs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BB86FC"/>
                </a:solidFill>
                <a:latin typeface="Consolas"/>
              </a:defRPr>
            </a:pPr>
            <a:r>
              <a:t>// RAG POISONING &amp; SUPPLY CHAIN ATTACKS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7295" cy="25400"/>
          </a:xfrm>
          <a:prstGeom prst="rect">
            <a:avLst/>
          </a:prstGeom>
          <a:solidFill>
            <a:srgbClr val="BB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146304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BB86FC"/>
                </a:solidFill>
                <a:latin typeface="Consolas"/>
              </a:defRPr>
            </a:pPr>
            <a:r>
              <a:t>5 docs → 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Just 5 poisoned documents</a:t>
            </a:r>
            <a:br/>
            <a:r>
              <a:t>manipulate RAG responses</a:t>
            </a:r>
            <a:br/>
            <a:r>
              <a:t>90% of the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097280"/>
            <a:ext cx="3657600" cy="146304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1188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BB86FC"/>
                </a:solidFill>
                <a:latin typeface="Consolas"/>
              </a:defRPr>
            </a:pPr>
            <a:r>
              <a:t>52.9%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745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of models vulnerable to</a:t>
            </a:r>
            <a:br/>
            <a:r>
              <a:t>RAG backdoor attacks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097280"/>
            <a:ext cx="3566160" cy="146304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0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75320" y="11887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0044"/>
                </a:solidFill>
                <a:latin typeface="Consolas"/>
              </a:defRPr>
            </a:pPr>
            <a:r>
              <a:t>4x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87452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supply chain compromises</a:t>
            </a:r>
            <a:br/>
            <a:r>
              <a:t>since 2020 (IBM X-Force)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BB86FC"/>
                </a:solidFill>
                <a:latin typeface="Consolas"/>
              </a:defRPr>
            </a:pPr>
            <a:r>
              <a:t>RAG ATTACK VECTORS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Document injection — plant crafted docs in the knowledge base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Embedding manipulation — craft text to sit near target queries in vector space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Retrieval hijacking — poisoned chunks rank above legitimate results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Metadata spoofing — fake trust signals (dates, authors, sources)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Cross-tenant leakage — shared indexes expose data across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926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F0044"/>
                </a:solidFill>
                <a:latin typeface="Consolas"/>
              </a:defRPr>
            </a:pPr>
            <a:r>
              <a:t>SUPPLY CHAIN VECTORS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3375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Model tampering — ROME "lobotomization" inserts backdoors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Fine-tuning poisoning — LoRA/PEFT adapters on Hugging Face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Tool/plugin compromise — malicious MCP servers, poisoned APIs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Training data manipulation — hidden prompts in public datasets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No provenance — no strong chain of custody for published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HACKING AND SECURING LLMs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FF8C00"/>
                </a:solidFill>
                <a:latin typeface="Consolas"/>
              </a:defRPr>
            </a:pPr>
            <a:r>
              <a:t>// THE ENTERPRISE READINESS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7295" cy="254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94960" cy="256032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6400" b="1">
                <a:solidFill>
                  <a:srgbClr val="00FF41"/>
                </a:solidFill>
                <a:latin typeface="Consolas"/>
              </a:defRPr>
            </a:pPr>
            <a:r>
              <a:t>83%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CCCCCC"/>
                </a:solidFill>
                <a:latin typeface="Segoe UI"/>
              </a:defRPr>
            </a:pPr>
            <a:r>
              <a:t>of organizations plan to deploy</a:t>
            </a:r>
            <a:br/>
            <a:r>
              <a:t>agentic AI (Cisco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94960" cy="256032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0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6400" b="1">
                <a:solidFill>
                  <a:srgbClr val="FF0044"/>
                </a:solidFill>
                <a:latin typeface="Consolas"/>
              </a:defRPr>
            </a:pPr>
            <a:r>
              <a:t>29%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5603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CCCCCC"/>
                </a:solidFill>
                <a:latin typeface="Segoe UI"/>
              </a:defRPr>
            </a:pPr>
            <a:r>
              <a:t>feel ready to deploy</a:t>
            </a:r>
            <a:br/>
            <a:r>
              <a:t>agentic AI securely (Cisco 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7373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FF8C00"/>
                </a:solidFill>
                <a:latin typeface="Consolas"/>
              </a:defRPr>
            </a:pPr>
            <a:r>
              <a:t>vs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114800"/>
            <a:ext cx="2697480" cy="146304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42519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600" b="1">
                <a:solidFill>
                  <a:srgbClr val="FF8C00"/>
                </a:solidFill>
                <a:latin typeface="Consolas"/>
              </a:defRPr>
            </a:pPr>
            <a:r>
              <a:t>Only 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006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888888"/>
                </a:solidFill>
                <a:latin typeface="Segoe UI"/>
              </a:defRPr>
            </a:pPr>
            <a:r>
              <a:t>feel highly confident in</a:t>
            </a:r>
            <a:br/>
            <a:r>
              <a:t>AI security preparedness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4114800"/>
            <a:ext cx="2697480" cy="146304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29000" y="42519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600" b="1">
                <a:solidFill>
                  <a:srgbClr val="FF8C00"/>
                </a:solidFill>
                <a:latin typeface="Consolas"/>
              </a:defRPr>
            </a:pPr>
            <a:r>
              <a:t>Only 24%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8006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888888"/>
                </a:solidFill>
                <a:latin typeface="Segoe UI"/>
              </a:defRPr>
            </a:pPr>
            <a:r>
              <a:t>have a dedicated</a:t>
            </a:r>
            <a:br/>
            <a:r>
              <a:t>AI security governance team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14800"/>
            <a:ext cx="2697480" cy="146304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42519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600" b="1">
                <a:solidFill>
                  <a:srgbClr val="FF8C00"/>
                </a:solidFill>
                <a:latin typeface="Consolas"/>
              </a:defRPr>
            </a:pPr>
            <a:r>
              <a:t>40%+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8006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888888"/>
                </a:solidFill>
                <a:latin typeface="Segoe UI"/>
              </a:defRPr>
            </a:pPr>
            <a:r>
              <a:t>allocate less than 10%</a:t>
            </a:r>
            <a:br/>
            <a:r>
              <a:t>of budget to AI security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4114800"/>
            <a:ext cx="2697480" cy="146304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9720" y="42519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600" b="1">
                <a:solidFill>
                  <a:srgbClr val="FF8C00"/>
                </a:solidFill>
                <a:latin typeface="Consolas"/>
              </a:defRPr>
            </a:pPr>
            <a:r>
              <a:t>64%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8006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888888"/>
                </a:solidFill>
                <a:latin typeface="Segoe UI"/>
              </a:defRPr>
            </a:pPr>
            <a:r>
              <a:t>now assessing AI tool security</a:t>
            </a:r>
            <a:br/>
            <a:r>
              <a:t>(up from 37% in 2025, WEF)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888888"/>
                </a:solidFill>
                <a:latin typeface="Consolas"/>
              </a:defRPr>
            </a:pPr>
            <a:r>
              <a:t>Sources: Cisco State of AI Security 2026, WEF Global Cybersecurity Outlook 2026, Help Net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00FF41"/>
                </a:solidFill>
                <a:latin typeface="Consolas"/>
              </a:defRPr>
            </a:pPr>
            <a:r>
              <a:t>// DEFENSE IN DEPTH — LAYERED LLM 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7295" cy="254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37160" cy="640080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03327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FF0044"/>
                </a:solidFill>
                <a:latin typeface="Consolas"/>
              </a:defRPr>
            </a:pPr>
            <a:r>
              <a:t>LAYER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10332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Consolas"/>
              </a:defRPr>
            </a:pPr>
            <a:r>
              <a:t>INPUT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03327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Prompt injection detection, input sanitization, length/encoding limits, multi-layer pattern matching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03327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Demos 01, 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56232"/>
            <a:ext cx="137160" cy="64008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83794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FF8C00"/>
                </a:solidFill>
                <a:latin typeface="Consolas"/>
              </a:defRPr>
            </a:pPr>
            <a:r>
              <a:t>LAYER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3794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Consolas"/>
              </a:defRPr>
            </a:pPr>
            <a:r>
              <a:t>RETRIEVAL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83794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RAG access control, document trust scoring, embedding anomaly detection, metadata verification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183794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Demos 03, 07, 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60904"/>
            <a:ext cx="137160" cy="64008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264261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FFD700"/>
                </a:solidFill>
                <a:latin typeface="Consolas"/>
              </a:defRPr>
            </a:pPr>
            <a:r>
              <a:t>LAYER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64261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Consolas"/>
              </a:defRPr>
            </a:pPr>
            <a:r>
              <a:t>MODEL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6426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Content safety filters, prompt shields, jailbreak detection, custom category moderation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264261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Demos 12, 19–25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65576"/>
            <a:ext cx="137160" cy="64008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34472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00FF41"/>
                </a:solidFill>
                <a:latin typeface="Consolas"/>
              </a:defRPr>
            </a:pPr>
            <a:r>
              <a:t>LAYER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4472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Consolas"/>
              </a:defRPr>
            </a:pPr>
            <a:r>
              <a:t>OUTPUT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4472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PII/secret detection, content filtering, hallucination/groundedness checks, format enforcement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344728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Demos 08, 21, 22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70248"/>
            <a:ext cx="137160" cy="64008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251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00E5FF"/>
                </a:solidFill>
                <a:latin typeface="Consolas"/>
              </a:defRPr>
            </a:pPr>
            <a:r>
              <a:t>LAYER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Consolas"/>
              </a:defRPr>
            </a:pPr>
            <a:r>
              <a:t>AGENT CONTROLS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251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Least-privilege tool access, human-in-the-loop approval, execution sandboxing, audit logging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2519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Demos 05, 09, 24, 30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74920"/>
            <a:ext cx="137160" cy="640080"/>
          </a:xfrm>
          <a:prstGeom prst="rect">
            <a:avLst/>
          </a:prstGeom>
          <a:solidFill>
            <a:srgbClr val="BB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505663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BB86FC"/>
                </a:solidFill>
                <a:latin typeface="Consolas"/>
              </a:defRPr>
            </a:pPr>
            <a:r>
              <a:t>LAYER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65960" y="50566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Consolas"/>
              </a:defRPr>
            </a:pPr>
            <a:r>
              <a:t>INFRASTRUCTURE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50566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CCCCCC"/>
                </a:solidFill>
                <a:latin typeface="Segoe UI"/>
              </a:defRPr>
            </a:pPr>
            <a:r>
              <a:t>Rate limiting, identity management, key vault, API gateway governance, red team testing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50566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Demos 27–29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989320"/>
            <a:ext cx="11277295" cy="320040"/>
          </a:xfrm>
          <a:prstGeom prst="roundRect">
            <a:avLst/>
          </a:prstGeom>
          <a:solidFill>
            <a:srgbClr val="003311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6007608"/>
            <a:ext cx="109617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00FF41"/>
                </a:solidFill>
                <a:latin typeface="Consolas"/>
              </a:defRPr>
            </a:pPr>
            <a:r>
              <a:t>Layered guardrails catch 95% of safety issues before reaching users. Parallel execution: 200ms serial → 70ms.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HACKING AND SECURING LLMs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00E5FF"/>
                </a:solidFill>
                <a:latin typeface="Consolas"/>
              </a:defRPr>
            </a:pPr>
            <a:r>
              <a:t>// ENTERPRISE DEFENSE STACK — TOOLS &amp; FRAMEWORKS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7295" cy="2540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00E5FF"/>
                </a:solidFill>
                <a:latin typeface="Consolas"/>
              </a:defRPr>
            </a:pPr>
            <a:r>
              <a:t>CLOUD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394960" cy="86868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90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Azure AI Content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6479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Segoe UI"/>
              </a:defRPr>
            </a:pPr>
            <a:r>
              <a:t>Text/image harm detection, Prompt Shields, groundedness,</a:t>
            </a:r>
            <a:br/>
            <a:r>
              <a:t>protected material, custom categories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68880"/>
            <a:ext cx="5394960" cy="86868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542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Azure AI Foundry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Segoe UI"/>
              </a:defRPr>
            </a:pPr>
            <a:r>
              <a:t>Red Teaming Agent, Agent Service guardrails,</a:t>
            </a:r>
            <a:br/>
            <a:r>
              <a:t>OTel observability, managed identity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5394960" cy="86868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5935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Azure APIM + Key Vault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6791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Segoe UI"/>
              </a:defRPr>
            </a:pPr>
            <a:r>
              <a:t>Rate limiting, token governance, cost control,</a:t>
            </a:r>
            <a:br/>
            <a:r>
              <a:t>passwordless credential management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394960" cy="86868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6451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NVIDIA NeMo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1947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Segoe UI"/>
              </a:defRPr>
            </a:pPr>
            <a:r>
              <a:t>Colang DSL, 5-stage pipeline, NIM microservice,</a:t>
            </a:r>
            <a:br/>
            <a:r>
              <a:t>content safety + jailbreak detection NIMs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051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00FF41"/>
                </a:solidFill>
                <a:latin typeface="Consolas"/>
              </a:defRPr>
            </a:pPr>
            <a:r>
              <a:t>OPEN-SOURCE / RED TEAM TOOLS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417320"/>
            <a:ext cx="5486400" cy="86868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149047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PyRIT (Microsoft)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76479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Segoe UI"/>
              </a:defRPr>
            </a:pPr>
            <a:r>
              <a:t>Programmatic orchestration, multi-turn attacks,</a:t>
            </a:r>
            <a:br/>
            <a:r>
              <a:t>converters/scorers, 3,400+ GitHub stars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468880"/>
            <a:ext cx="5486400" cy="86868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254203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Garak (NVIDIA)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1635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Segoe UI"/>
              </a:defRPr>
            </a:pPr>
            <a:r>
              <a:t>100+ attack modules, security-framework mapping,</a:t>
            </a:r>
            <a:br/>
            <a:r>
              <a:t>automated vulnerability scanning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520440"/>
            <a:ext cx="5486400" cy="86868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5935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Guardrails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86791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Segoe UI"/>
              </a:defRPr>
            </a:pPr>
            <a:r>
              <a:t>Guard pipelines, Guardrails Hub validators,</a:t>
            </a:r>
            <a:br/>
            <a:r>
              <a:t>Guardrails Index benchmark (24 guardrails)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572000"/>
            <a:ext cx="5486400" cy="86868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0" y="46451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Promptfoo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91947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Segoe UI"/>
              </a:defRPr>
            </a:pPr>
            <a:r>
              <a:t>Developer-friendly red teaming, CI/CD integration,</a:t>
            </a:r>
            <a:br/>
            <a:r>
              <a:t>OWASP/NIST compliance mapping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760720"/>
            <a:ext cx="11277295" cy="64008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BB86FC"/>
                </a:solidFill>
                <a:latin typeface="Consolas"/>
              </a:defRPr>
            </a:pPr>
            <a:r>
              <a:t>ALSO:  Llama Guard (Meta) • DeepTeam (Confident AI, 40+ vuln classes) • Novee (autonomous black-box offensive sim) • Splx AI • Giskard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HACKING AND SECURING LLMs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FF0044"/>
                </a:solidFill>
                <a:latin typeface="Consolas"/>
              </a:defRPr>
            </a:pPr>
            <a:r>
              <a:t>// RED TEAMING &amp; CONTINUOUS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7295" cy="25400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2200" b="0">
                <a:solidFill>
                  <a:srgbClr val="FFFFFF"/>
                </a:solidFill>
                <a:latin typeface="Segoe UI"/>
              </a:defRPr>
            </a:pPr>
            <a:r>
              <a:t>If you’re not actively attacking your LLM system, someone else is.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defRPr sz="1600" b="0">
                <a:solidFill>
                  <a:srgbClr val="888888"/>
                </a:solidFill>
                <a:latin typeface="Segoe UI"/>
              </a:defRPr>
            </a:pPr>
            <a:r>
              <a:t>SPLX jailbroke GPT-5 within 24 hours of its January 2026 release. Every model ships with exploitable surfaces.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77440"/>
            <a:ext cx="3566160" cy="347472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0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2377440"/>
            <a:ext cx="3566160" cy="411480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44144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F0F0F"/>
                </a:solidFill>
                <a:latin typeface="Consolas"/>
              </a:defRPr>
            </a:pPr>
            <a:r>
              <a:t>PRE-DEPLOYMENT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Automated adversarial evaluation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Multi-turn attack simulation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OWASP LLM Top 10 coverage testing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Prompt injection fuzzing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Output safety boundary testing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2377440"/>
            <a:ext cx="3566160" cy="347472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60" y="2377440"/>
            <a:ext cx="3566160" cy="41148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0" y="244144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F0F0F"/>
                </a:solidFill>
                <a:latin typeface="Consolas"/>
              </a:defRPr>
            </a:pPr>
            <a:r>
              <a:t>CONTINUOUS MONITORING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92608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Real-time content safety scoring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Anomaly detection on tool calls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Drift detection on guardrail efficacy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Cost and token abuse alerting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Audit logging for every LLM interaction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377440"/>
            <a:ext cx="3566160" cy="347472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2377440"/>
            <a:ext cx="3566160" cy="41148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80" y="244144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F0F0F"/>
                </a:solidFill>
                <a:latin typeface="Consolas"/>
              </a:defRPr>
            </a:pPr>
            <a:r>
              <a:t>INCIDENT 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92608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Prompt injection triage playbooks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Model rollback and hotfix procedures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Guardrail emergency escalation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Post-incident red team re-evaluation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Regulatory notification workflows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Frameworks: NIST AI RMF  •  MITRE ATLAS  •  OWASP GenAI Red Teaming Guide (Jan 2025)  •  EU AI Act (mandates red teaming for high-risk systems)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HACKING AND SECURING LLMs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BB86FC"/>
                </a:solidFill>
                <a:latin typeface="Consolas"/>
              </a:defRPr>
            </a:pPr>
            <a:r>
              <a:t>// REGULATORY LANDSCAPE — COMPLIANCE IS COMING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7295" cy="25400"/>
          </a:xfrm>
          <a:prstGeom prst="rect">
            <a:avLst/>
          </a:prstGeom>
          <a:solidFill>
            <a:srgbClr val="BB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BB86FC"/>
                </a:solidFill>
                <a:latin typeface="Consolas"/>
              </a:defRPr>
            </a:pPr>
            <a:r>
              <a:t>EU AI ACT ENFORCEMENT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82880" cy="18288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13232" y="1783080"/>
            <a:ext cx="36576" cy="100584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FF41"/>
                </a:solidFill>
                <a:latin typeface="Consolas"/>
              </a:defRPr>
            </a:pPr>
            <a:r>
              <a:t>Aug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CCCCCC"/>
                </a:solidFill>
                <a:latin typeface="Segoe UI"/>
              </a:defRPr>
            </a:pPr>
            <a:r>
              <a:t>General-purpose AI rules apply;</a:t>
            </a:r>
            <a:br/>
            <a:r>
              <a:t>member states designate authorities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182880" cy="182880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2971800"/>
            <a:ext cx="36576" cy="100584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517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0044"/>
                </a:solidFill>
                <a:latin typeface="Consolas"/>
              </a:defRPr>
            </a:pPr>
            <a:r>
              <a:t>Aug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9718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CCCCCC"/>
                </a:solidFill>
                <a:latin typeface="Segoe UI"/>
              </a:defRPr>
            </a:pPr>
            <a:r>
              <a:t>FULL ENFORCEMENT — high-risk AI systems,</a:t>
            </a:r>
            <a:br/>
            <a:r>
              <a:t>transparency rules, penalties framework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77640"/>
            <a:ext cx="182880" cy="18288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840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D700"/>
                </a:solidFill>
                <a:latin typeface="Consolas"/>
              </a:defRPr>
            </a:pPr>
            <a:r>
              <a:t>Aug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605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CCCCCC"/>
                </a:solidFill>
                <a:latin typeface="Segoe UI"/>
              </a:defRPr>
            </a:pPr>
            <a:r>
              <a:t>Pre-existing GPAI models must comply;</a:t>
            </a:r>
            <a:br/>
            <a:r>
              <a:t>all transition periods 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051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00E5FF"/>
                </a:solidFill>
                <a:latin typeface="Consolas"/>
              </a:defRPr>
            </a:pPr>
            <a:r>
              <a:t>US AI POLICY (2025–2026)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4630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"America's AI Action Plan" + 3 Executive Orders (Jul 2025): AI development, federal procurement, infrastructure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Dec 2025 EO: National AI policy framework; DOJ AI Litigation Task Force to challenge state AI laws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NIST directed to revise AI Risk Management Framework (AI RMF) with updated threat taxonomies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Focus on innovation acceleration with lighter regulatory touch vs. EU comprehensive approach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29200"/>
            <a:ext cx="11277295" cy="1188720"/>
          </a:xfrm>
          <a:prstGeom prst="roundRect">
            <a:avLst/>
          </a:prstGeom>
          <a:solidFill>
            <a:srgbClr val="141414"/>
          </a:solidFill>
          <a:ln w="1905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B86FC"/>
                </a:solidFill>
                <a:latin typeface="Consolas"/>
              </a:defRPr>
            </a:pPr>
            <a:r>
              <a:t>WHAT THIS MEANS FOR YOU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If you deploy AI in the EU, you must red-team high-risk systems and maintain transparency documentation by Aug 2026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In the US, NIST AI RMF is the de-facto standard for demonstrating due diligence, even without binding law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CCCCCC"/>
                </a:solidFill>
                <a:latin typeface="Segoe UI"/>
              </a:defRPr>
            </a:pPr>
            <a:r>
              <a:t>▸  IBM X-Force 2026: 44% increase in attacks exploiting public-facing applications, driven by AI-enabled vulnerability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HACKING AND SECURING LLMs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00FF41"/>
                </a:solidFill>
                <a:latin typeface="Consolas"/>
              </a:defRPr>
            </a:pPr>
            <a:r>
              <a:t>//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1277295" cy="254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09728" cy="594360"/>
          </a:xfrm>
          <a:prstGeom prst="rect">
            <a:avLst/>
          </a:prstGeom>
          <a:solidFill>
            <a:srgbClr val="FF0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07899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700" b="1">
                <a:solidFill>
                  <a:srgbClr val="FF0044"/>
                </a:solidFill>
                <a:latin typeface="Consolas"/>
              </a:defRPr>
            </a:pPr>
            <a:r>
              <a:t>PROMPT INJECTION IS UNSOLVED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990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CCCCCC"/>
                </a:solidFill>
                <a:latin typeface="Segoe UI"/>
              </a:defRPr>
            </a:pPr>
            <a:r>
              <a:t>73% of production LLM deployments are vulnerable. No single defense works. Layered security is the only viable strategy.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84248"/>
            <a:ext cx="109728" cy="59436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700" b="1">
                <a:solidFill>
                  <a:srgbClr val="FFD700"/>
                </a:solidFill>
                <a:latin typeface="Consolas"/>
              </a:defRPr>
            </a:pPr>
            <a:r>
              <a:t>AGENTS ARE THE NEW FRONTIER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CCCCCC"/>
                </a:solidFill>
                <a:latin typeface="Segoe UI"/>
              </a:defRPr>
            </a:pPr>
            <a:r>
              <a:t>82% compromise rate via inter-agent communication. 80% of IT pros have already seen unauthorized agent actions. Tool boundaries matter.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25496"/>
            <a:ext cx="109728" cy="59436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700" b="1">
                <a:solidFill>
                  <a:srgbClr val="FF8C00"/>
                </a:solidFill>
                <a:latin typeface="Consolas"/>
              </a:defRPr>
            </a:pPr>
            <a:r>
              <a:t>THE READINESS GAP IS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8152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CCCCCC"/>
                </a:solidFill>
                <a:latin typeface="Segoe UI"/>
              </a:defRPr>
            </a:pPr>
            <a:r>
              <a:t>83% plan agentic AI, only 29% feel security-ready, only 5% are confident. Budget and governance are not keeping pace with deployment.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66744"/>
            <a:ext cx="109728" cy="59436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60273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700" b="1">
                <a:solidFill>
                  <a:srgbClr val="00FF41"/>
                </a:solidFill>
                <a:latin typeface="Consolas"/>
              </a:defRPr>
            </a:pPr>
            <a:r>
              <a:t>DEFENSE IN DEPTH 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2277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CCCCCC"/>
                </a:solidFill>
                <a:latin typeface="Segoe UI"/>
              </a:defRPr>
            </a:pPr>
            <a:r>
              <a:t>Layered guardrails catch 95% of safety issues. Input, retrieval, model, output, agent, and infrastructure controls must all be present.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507992"/>
            <a:ext cx="109728" cy="594360"/>
          </a:xfrm>
          <a:prstGeom prst="rect">
            <a:avLst/>
          </a:prstGeom>
          <a:solidFill>
            <a:srgbClr val="BB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4439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700" b="1">
                <a:solidFill>
                  <a:srgbClr val="BB86FC"/>
                </a:solidFill>
                <a:latin typeface="Consolas"/>
              </a:defRPr>
            </a:pPr>
            <a:r>
              <a:t>REGULATION IS HERE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6402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CCCCCC"/>
                </a:solidFill>
                <a:latin typeface="Segoe UI"/>
              </a:defRPr>
            </a:pPr>
            <a:r>
              <a:t>EU AI Act full enforcement Aug 2026. NIST AI RMF is the US de-facto standard. Red teaming is becoming a legal requirement, not a best practice.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49240"/>
            <a:ext cx="109728" cy="59436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52852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700" b="1">
                <a:solidFill>
                  <a:srgbClr val="00E5FF"/>
                </a:solidFill>
                <a:latin typeface="Consolas"/>
              </a:defRPr>
            </a:pPr>
            <a:r>
              <a:t>TEST LIKE AN ATTACKER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0527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CCCCCC"/>
                </a:solidFill>
                <a:latin typeface="Segoe UI"/>
              </a:defRPr>
            </a:pPr>
            <a:r>
              <a:t>GPT-5 was jailbroken in 24 hours. Use PyRIT, Garak, Promptfoo. Automate adversarial evaluation. Monitor continuously. Ship with guardrails 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172200"/>
            <a:ext cx="11277295" cy="254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828800" y="626364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00CC33"/>
                </a:solidFill>
                <a:latin typeface="Consolas"/>
              </a:defRPr>
            </a:pPr>
            <a:r>
              <a:t>github.com/greglevenhagen/hacking-and-securing-llms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6A9DC30-084D-6F4B-B6CF-9633338F38B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c8fb814-7ee1-4d6b-bba7-e9ffa8c8e20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9755</TotalTime>
  <Words>1944</Words>
  <Application>Microsoft Macintosh PowerPoint</Application>
  <PresentationFormat>Widescreen</PresentationFormat>
  <Paragraphs>262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Greg Levenhagen</cp:lastModifiedBy>
  <cp:revision>3</cp:revision>
  <dcterms:created xsi:type="dcterms:W3CDTF">2013-01-27T09:14:16Z</dcterms:created>
  <dcterms:modified xsi:type="dcterms:W3CDTF">2026-04-08T15:03:39Z</dcterms:modified>
  <cp:category/>
</cp:coreProperties>
</file>