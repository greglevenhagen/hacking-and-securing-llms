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0" r:id="rId13"/>
    <p:sldId id="272" r:id="rId14"/>
    <p:sldId id="27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65"/>
    <p:restoredTop sz="94699"/>
  </p:normalViewPr>
  <p:slideViewPr>
    <p:cSldViewPr snapToGrid="0" snapToObjects="1">
      <p:cViewPr varScale="1">
        <p:scale>
          <a:sx n="197" d="100"/>
          <a:sy n="197" d="100"/>
        </p:scale>
        <p:origin x="464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371600"/>
            <a:ext cx="11277295" cy="254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006622"/>
                </a:solidFill>
                <a:latin typeface="Consolas"/>
              </a:defRPr>
            </a:pPr>
            <a:r>
              <a:t>01001000 01000001 01000011 01001011  //  4C 4C 4D  //  SEC::BREACH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4800" b="1">
                <a:solidFill>
                  <a:srgbClr val="00FF41"/>
                </a:solidFill>
                <a:latin typeface="Consolas"/>
              </a:defRPr>
            </a:pPr>
            <a:r>
              <a:rPr dirty="0">
                <a:solidFill>
                  <a:schemeClr val="bg1"/>
                </a:solidFill>
              </a:rPr>
              <a:t>HACKING AND SECURING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48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rgbClr val="00CC32"/>
                </a:solidFill>
              </a:rPr>
              <a:t>Live Attacks, Broken Defenses, and Safer AI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754880"/>
            <a:ext cx="11277295" cy="254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647" y="5223535"/>
            <a:ext cx="8534095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00CC33"/>
                </a:solidFill>
                <a:latin typeface="Consolas"/>
              </a:defRPr>
            </a:pPr>
            <a:r>
              <a:rPr lang="en-US" sz="2000" dirty="0">
                <a:solidFill>
                  <a:schemeClr val="bg1"/>
                </a:solidFill>
              </a:rPr>
              <a:t>Greg Levenhagen</a:t>
            </a:r>
          </a:p>
          <a:p>
            <a:pPr>
              <a:spcAft>
                <a:spcPts val="600"/>
              </a:spcAft>
              <a:defRPr sz="1600" b="0">
                <a:solidFill>
                  <a:srgbClr val="00CC33"/>
                </a:solidFill>
                <a:latin typeface="Consolas"/>
              </a:defRPr>
            </a:pPr>
            <a:r>
              <a:rPr lang="en-US" dirty="0"/>
              <a:t>Technical Fellow, VP of AI @ NRI</a:t>
            </a:r>
          </a:p>
          <a:p>
            <a:pPr>
              <a:spcAft>
                <a:spcPts val="600"/>
              </a:spcAft>
              <a:defRPr sz="1600" b="0">
                <a:solidFill>
                  <a:srgbClr val="00CC33"/>
                </a:solidFill>
                <a:latin typeface="Consolas"/>
              </a:defRPr>
            </a:pPr>
            <a:r>
              <a:rPr lang="en-US" dirty="0"/>
              <a:t>Microsoft AI MVP &amp; Regional Director</a:t>
            </a:r>
          </a:p>
          <a:p>
            <a:pPr>
              <a:spcAft>
                <a:spcPts val="600"/>
              </a:spcAft>
              <a:defRPr sz="1600" b="0">
                <a:solidFill>
                  <a:srgbClr val="00CC33"/>
                </a:solidFill>
                <a:latin typeface="Consolas"/>
              </a:defRPr>
            </a:pPr>
            <a:r>
              <a:rPr lang="en-US" dirty="0"/>
              <a:t>https://</a:t>
            </a:r>
            <a:r>
              <a:rPr lang="en-US" dirty="0" err="1"/>
              <a:t>www.linkedIn.com</a:t>
            </a:r>
            <a:r>
              <a:rPr lang="en-US" dirty="0"/>
              <a:t>/in/</a:t>
            </a:r>
            <a:r>
              <a:rPr lang="en-US" dirty="0" err="1"/>
              <a:t>GregLevenhagen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CC33"/>
                </a:solidFill>
                <a:latin typeface="Consolas"/>
              </a:defRPr>
            </a:pPr>
            <a:r>
              <a:t>&gt; 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0044"/>
                </a:solidFill>
                <a:latin typeface="Consolas"/>
              </a:defRPr>
            </a:pPr>
            <a:r>
              <a:t>// THE THREAT LANDSCAPE —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51760" cy="128016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0044"/>
                </a:solidFill>
                <a:latin typeface="Consolas"/>
              </a:defRPr>
            </a:pPr>
            <a:r>
              <a:t>56.4%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increase in AI security</a:t>
            </a:r>
            <a:br/>
            <a:r>
              <a:t>incidents YoY (Stanford HAI)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097280"/>
            <a:ext cx="2651760" cy="128016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2900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0044"/>
                </a:solidFill>
                <a:latin typeface="Consolas"/>
              </a:defRPr>
            </a:pPr>
            <a:r>
              <a:t>300K+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91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ChatGPT credentials found</a:t>
            </a:r>
            <a:br/>
            <a:r>
              <a:t>in infostealer malware (IBM)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97280"/>
            <a:ext cx="2651760" cy="128016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D700"/>
                </a:solidFill>
                <a:latin typeface="Consolas"/>
              </a:defRPr>
            </a:pPr>
            <a:r>
              <a:t>CVSS 9.8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prompt injection CVE</a:t>
            </a:r>
            <a:br/>
            <a:r>
              <a:t>in Cursor IDE (2025)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097280"/>
            <a:ext cx="2651760" cy="128016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188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8C00"/>
                </a:solidFill>
                <a:latin typeface="Consolas"/>
              </a:defRPr>
            </a:pPr>
            <a:r>
              <a:t>24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6916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GPT-5 jailbroken after</a:t>
            </a:r>
            <a:br/>
            <a:r>
              <a:t>release by SPLX (Jan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0044"/>
                </a:solidFill>
                <a:latin typeface="Consolas"/>
              </a:defRPr>
            </a:pPr>
            <a:r>
              <a:t>RECENT INCIDENTS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73552"/>
            <a:ext cx="109728" cy="109728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GitHub Copilot RCE (CVE-2025-53773)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154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Segoe UI"/>
              </a:defRPr>
            </a:pPr>
            <a:r>
              <a:t>Prompt injection in PR descriptions enabled remote code execution — CVSS 9.6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59352"/>
            <a:ext cx="109728" cy="109728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840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Microsoft 365 Copilot "EchoLeak"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840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Segoe UI"/>
              </a:defRPr>
            </a:pPr>
            <a:r>
              <a:t>Zero-click prompt injection silently exfiltrated enterprise data across tenants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45152"/>
            <a:ext cx="109728" cy="109728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526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DeepSeek DeepThink-R1 Backdoor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5262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Segoe UI"/>
              </a:defRPr>
            </a:pPr>
            <a:r>
              <a:t>Hidden prompts in GitHub code comments poisoned fine-tuning; backdoor activated months later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30952"/>
            <a:ext cx="109728" cy="109728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212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"Shadow Escape" MCP Exploit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Segoe UI"/>
              </a:defRPr>
            </a:pPr>
            <a:r>
              <a:t>Zero-click exploit targeting Model Context Protocol agents — full tool takeover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016752"/>
            <a:ext cx="109728" cy="109728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897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Drift/Salesforce OAuth Attack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8978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Segoe UI"/>
              </a:defRPr>
            </a:pPr>
            <a:r>
              <a:t>Stolen OAuth tokens via AI integration compromised 700+ organizations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88888"/>
                </a:solidFill>
                <a:latin typeface="Consolas"/>
              </a:defRPr>
            </a:pPr>
            <a:r>
              <a:t>Sources: IBM X-Force 2026, Stanford HAI, Cycode, Operant AI, Reco.ai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8C00"/>
                </a:solidFill>
                <a:latin typeface="Consolas"/>
              </a:defRPr>
            </a:pPr>
            <a:r>
              <a:t>// OWASP TOP 10 FOR LLM APPLICATIONS (2025)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0044"/>
                </a:solidFill>
                <a:latin typeface="Consolas"/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51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0044"/>
                </a:solidFill>
                <a:latin typeface="Consolas"/>
              </a:defRPr>
            </a:pPr>
            <a:r>
              <a:t>LLM01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Prompt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051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#1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453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0044"/>
                </a:solidFill>
                <a:latin typeface="Consolas"/>
              </a:defRPr>
            </a:pPr>
            <a: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4533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0044"/>
                </a:solidFill>
                <a:latin typeface="Consolas"/>
              </a:defRPr>
            </a:pPr>
            <a:r>
              <a:t>LLM02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5453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Sensitive Information Disclosure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453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Jumped from #6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391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D700"/>
                </a:solidFill>
                <a:latin typeface="Consolas"/>
              </a:defRPr>
            </a:pPr>
            <a:r>
              <a:t>#3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39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D700"/>
                </a:solidFill>
                <a:latin typeface="Consolas"/>
              </a:defRPr>
            </a:pPr>
            <a:r>
              <a:t>LLM03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0391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Supply Chain Vulnerabilities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391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32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D700"/>
                </a:solidFill>
                <a:latin typeface="Consolas"/>
              </a:defRPr>
            </a:pPr>
            <a:r>
              <a:t>#4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532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D700"/>
                </a:solidFill>
                <a:latin typeface="Consolas"/>
              </a:defRPr>
            </a:pPr>
            <a:r>
              <a:t>LLM04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532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Data and Model Poisoning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5328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Expanded: RAG + fine-tune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266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D700"/>
                </a:solidFill>
                <a:latin typeface="Consolas"/>
              </a:defRPr>
            </a:pPr>
            <a:r>
              <a:t>#5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026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D700"/>
                </a:solidFill>
                <a:latin typeface="Consolas"/>
              </a:defRPr>
            </a:pPr>
            <a:r>
              <a:t>LLM05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0266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Improper Output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26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Unchanged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FF41"/>
                </a:solidFill>
                <a:latin typeface="Consolas"/>
              </a:defRPr>
            </a:pPr>
            <a:r>
              <a:t>#6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20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FF41"/>
                </a:solidFill>
                <a:latin typeface="Consolas"/>
              </a:defRPr>
            </a:pPr>
            <a:r>
              <a:t>LLM06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Excessive Agency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520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NEW — agentic AI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14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FF41"/>
                </a:solidFill>
                <a:latin typeface="Consolas"/>
              </a:defRPr>
            </a:pPr>
            <a:r>
              <a:t>#7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14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FF41"/>
                </a:solidFill>
                <a:latin typeface="Consolas"/>
              </a:defRPr>
            </a:pPr>
            <a:r>
              <a:t>LLM07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40142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System Prompt Leakage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0142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NEW — standalone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07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FF41"/>
                </a:solidFill>
                <a:latin typeface="Consolas"/>
              </a:defRPr>
            </a:pPr>
            <a:r>
              <a:t>#8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5079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FF41"/>
                </a:solidFill>
                <a:latin typeface="Consolas"/>
              </a:defRPr>
            </a:pPr>
            <a:r>
              <a:t>LLM08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507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Vector and Embedding Weaknesses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507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NEW — RAG-specific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01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E5FF"/>
                </a:solidFill>
                <a:latin typeface="Consolas"/>
              </a:defRPr>
            </a:pPr>
            <a:r>
              <a:t>#9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001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E5FF"/>
                </a:solidFill>
                <a:latin typeface="Consolas"/>
              </a:defRPr>
            </a:pPr>
            <a:r>
              <a:t>LLM09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5001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Misinformation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0017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Replaces Overreliance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5591" y="5495544"/>
            <a:ext cx="5188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E5FF"/>
                </a:solidFill>
                <a:latin typeface="Consolas"/>
              </a:defRPr>
            </a:pPr>
            <a:r>
              <a:rPr dirty="0"/>
              <a:t>#10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4955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E5FF"/>
                </a:solidFill>
                <a:latin typeface="Consolas"/>
              </a:defRPr>
            </a:pPr>
            <a:r>
              <a:t>LLM10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0" y="5495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Unbounded Consumption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49554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t>NEW — DoS/resource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1584" y="6035040"/>
            <a:ext cx="11880714" cy="36576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1584" y="6079421"/>
            <a:ext cx="11880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BB86FC"/>
                </a:solidFill>
                <a:latin typeface="Consolas"/>
              </a:defRPr>
            </a:pPr>
            <a:r>
              <a:rPr dirty="0"/>
              <a:t>NEW DEC 2025:  OWASP Top 10 for Agentic Applications (ASI-01 to ASI-10) — goal hijacking, tool misuse, memory poisoning, cascading failures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HACKING AND SECURING LLMs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0044"/>
                </a:solidFill>
                <a:latin typeface="Consolas"/>
              </a:defRPr>
            </a:pPr>
            <a:r>
              <a:t>// PROMPT INJECTION — THE #1 VULNERABILITY (LLM01)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13716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0044"/>
                </a:solidFill>
                <a:latin typeface="Consolas"/>
              </a:defRPr>
            </a:pPr>
            <a:r>
              <a:t>73%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of production LLM deployments</a:t>
            </a:r>
            <a:br/>
            <a:r>
              <a:t>contain prompt injection vulns</a:t>
            </a:r>
            <a:br/>
            <a:r>
              <a:t>(SQ Magazine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3474720" cy="13716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0044"/>
                </a:solidFill>
                <a:latin typeface="Consolas"/>
              </a:defRPr>
            </a:pPr>
            <a:r>
              <a:t>85%+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attack success rate with</a:t>
            </a:r>
            <a:br/>
            <a:r>
              <a:t>adaptive multi-turn techniques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3474720" cy="13716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D700"/>
                </a:solidFill>
                <a:latin typeface="Consolas"/>
              </a:defRPr>
            </a:pPr>
            <a:r>
              <a:t>34.7%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of organizations have deployed</a:t>
            </a:r>
            <a:br/>
            <a:r>
              <a:t>dedicated injection defenses</a:t>
            </a:r>
            <a:br/>
            <a:r>
              <a:t>(Cisco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0044"/>
                </a:solidFill>
                <a:latin typeface="Consolas"/>
              </a:defRPr>
            </a:pPr>
            <a:r>
              <a:t>ATTACK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508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0044"/>
                </a:solidFill>
                <a:latin typeface="Consolas"/>
              </a:defRPr>
            </a:pPr>
            <a:r>
              <a:t>DIRECT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83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Attacker crafts input that overrides the system prompt. “Ignore previous instructions and...” — the simplest and still most effective vector.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23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0044"/>
                </a:solidFill>
                <a:latin typeface="Consolas"/>
              </a:defRPr>
            </a:pPr>
            <a:r>
              <a:t>INDIRECT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97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Malicious payload embedded in external data (web pages, documents, emails) that the LLM processes. The user never sees the attack.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0044"/>
                </a:solidFill>
                <a:latin typeface="Consolas"/>
              </a:defRPr>
            </a:pPr>
            <a:r>
              <a:t>MULTI-TURN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11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Conversational manipulation across multiple exchanges. Gradually shifts context until the model complies with restricted requests.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51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0044"/>
                </a:solidFill>
                <a:latin typeface="Consolas"/>
              </a:defRPr>
            </a:pPr>
            <a:r>
              <a:t>ENCODED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26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Payloads hidden via Base64, ROT13, Unicode, markdown, or language switching. Bypasses pattern-matching defenses.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166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0044"/>
                </a:solidFill>
                <a:latin typeface="Consolas"/>
              </a:defRPr>
            </a:pPr>
            <a:r>
              <a:t>TOOL-MEDIATED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440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Injection through tool outputs, API responses, or RAG retrieval results. The model trusts “data” that contains instructions.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HACKING AND SECURING LLMs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D700"/>
                </a:solidFill>
                <a:latin typeface="Consolas"/>
              </a:defRPr>
            </a:pPr>
            <a:r>
              <a:t>// AGENT EXPLOITATION — THE EXPANDING ATTACK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240280" cy="13716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D700"/>
                </a:solidFill>
                <a:latin typeface="Consolas"/>
              </a:defRPr>
            </a:pPr>
            <a:r>
              <a:t>82.4%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of models compromised</a:t>
            </a:r>
            <a:br/>
            <a:r>
              <a:t>via inter-agent comms</a:t>
            </a:r>
            <a:br/>
            <a:r>
              <a:t>(vs 41% direct injection)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097280"/>
            <a:ext cx="2240280" cy="13716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11887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0044"/>
                </a:solidFill>
                <a:latin typeface="Consolas"/>
              </a:defRPr>
            </a:pPr>
            <a: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830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of IT pros have seen</a:t>
            </a:r>
            <a:br/>
            <a:r>
              <a:t>agents perform</a:t>
            </a:r>
            <a:br/>
            <a:r>
              <a:t>unauthorized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097280"/>
            <a:ext cx="2240280" cy="13716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0680" y="11887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00E5FF"/>
                </a:solidFill>
                <a:latin typeface="Consolas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7830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of enterprise apps will</a:t>
            </a:r>
            <a:br/>
            <a:r>
              <a:t>have embedded agents</a:t>
            </a:r>
            <a:br/>
            <a:r>
              <a:t>by 2026 (Gartner)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097280"/>
            <a:ext cx="2240280" cy="13716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39" y="118872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00FF41"/>
                </a:solidFill>
                <a:latin typeface="Consolas"/>
              </a:defRPr>
            </a:pPr>
            <a:r>
              <a:t>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17830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of companies now use</a:t>
            </a:r>
            <a:br/>
            <a:r>
              <a:t>RAG or agentic</a:t>
            </a:r>
            <a:br/>
            <a:r>
              <a:t>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D700"/>
                </a:solidFill>
                <a:latin typeface="Consolas"/>
              </a:defRPr>
            </a:pPr>
            <a:r>
              <a:t>KEY RISK CATEGORIES (OWASP Agentic Top 10 + Databricks DASF v3.0)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55264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Tool Misuse &amp;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546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Agents call APIs, write code, execute shell commands — every tool is an attack surface. A read-only agent can be manipulated into admin actions.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68496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867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Inter-Agent Trust Exploitation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86791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Models that resist direct malicious commands will execute identical payloads when requested by peer agents. Trust propagates attacks.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81728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581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Memory &amp; Context Poisoning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581144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Persistent injection across sessions. Poisoned context carries forward, corrupting future decisions without re-injection.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9496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2943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Cascading Pipeline Failures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294376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One compromised agent in a multi-agent pipeline corrupts every downstream agent. Errors and attacks amplify through the chain.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108192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60076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Discovery &amp; Traversal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6007608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Agents designed to “find solutions” traverse data paths and tool interfaces never intended for the requesting user.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HACKING AND SECURING LLMs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BB86FC"/>
                </a:solidFill>
                <a:latin typeface="Consolas"/>
              </a:defRPr>
            </a:pPr>
            <a:r>
              <a:t>// RAG POISONING &amp; SUPPLY CHAIN ATTACKS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146304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BB86FC"/>
                </a:solidFill>
                <a:latin typeface="Consolas"/>
              </a:defRPr>
            </a:pPr>
            <a:r>
              <a:t>5 docs → 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Just 5 poisoned documents</a:t>
            </a:r>
            <a:br/>
            <a:r>
              <a:t>manipulate RAG responses</a:t>
            </a:r>
            <a:br/>
            <a:r>
              <a:t>90% of the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657600" cy="146304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188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BB86FC"/>
                </a:solidFill>
                <a:latin typeface="Consolas"/>
              </a:defRPr>
            </a:pPr>
            <a:r>
              <a:t>52.9%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7452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of models vulnerable to</a:t>
            </a:r>
            <a:br/>
            <a:r>
              <a:t>RAG backdoor attacks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146304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188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3600" b="1">
                <a:solidFill>
                  <a:srgbClr val="FF0044"/>
                </a:solidFill>
                <a:latin typeface="Consolas"/>
              </a:defRPr>
            </a:pPr>
            <a:r>
              <a:t>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supply chain compromises</a:t>
            </a:r>
            <a:br/>
            <a:r>
              <a:t>since 2020 (IBM X-Force)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BB86FC"/>
                </a:solidFill>
                <a:latin typeface="Consolas"/>
              </a:defRPr>
            </a:pPr>
            <a:r>
              <a:t>RAG ATTACK VECTORS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Document injection — plant crafted docs in the knowledge base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Embedding manipulation — craft text to sit near target queries in vector space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Retrieval hijacking — poisoned chunks rank above legitimate results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Metadata spoofing — fake trust signals (dates, authors, sources)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Cross-tenant leakage — shared indexes expose data across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0044"/>
                </a:solidFill>
                <a:latin typeface="Consolas"/>
              </a:defRPr>
            </a:pPr>
            <a:r>
              <a:t>SUPPLY CHAIN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Model tampering — ROME "lobotomization" inserts backdoors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Fine-tuning poisoning — LoRA/PEFT adapters on Hugging Face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Tool/plugin compromise — malicious MCP servers, poisoned APIs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Training data manipulation — hidden prompts in public datasets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No provenance — no strong chain of custody for published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HACKING AND SECURING LLMs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8C00"/>
                </a:solidFill>
                <a:latin typeface="Consolas"/>
              </a:defRPr>
            </a:pPr>
            <a:r>
              <a:t>// THE ENTERPRISE READINESS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94960" cy="25603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6400" b="1">
                <a:solidFill>
                  <a:srgbClr val="00FF41"/>
                </a:solidFill>
                <a:latin typeface="Consolas"/>
              </a:defRPr>
            </a:pPr>
            <a:r>
              <a:t>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of organizations plan to deploy</a:t>
            </a:r>
            <a:br/>
            <a:r>
              <a:t>agentic AI (Cisco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94960" cy="25603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6400" b="1">
                <a:solidFill>
                  <a:srgbClr val="FF0044"/>
                </a:solidFill>
                <a:latin typeface="Consolas"/>
              </a:defRPr>
            </a:pPr>
            <a:r>
              <a:t>29%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CCCCCC"/>
                </a:solidFill>
                <a:latin typeface="Segoe UI"/>
              </a:defRPr>
            </a:pPr>
            <a:r>
              <a:t>feel ready to deploy</a:t>
            </a:r>
            <a:br/>
            <a:r>
              <a:t>agentic AI securely (Cisco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FF8C00"/>
                </a:solidFill>
                <a:latin typeface="Consolas"/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2697480" cy="1463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FF8C00"/>
                </a:solidFill>
                <a:latin typeface="Consolas"/>
              </a:defRPr>
            </a:pPr>
            <a:r>
              <a:t>Only 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feel highly confident in</a:t>
            </a:r>
            <a:br/>
            <a:r>
              <a:t>AI security preparedness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114800"/>
            <a:ext cx="2697480" cy="1463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4251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FF8C00"/>
                </a:solidFill>
                <a:latin typeface="Consolas"/>
              </a:defRPr>
            </a:pPr>
            <a:r>
              <a:t>Only 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8006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have a dedicated</a:t>
            </a:r>
            <a:br/>
            <a:r>
              <a:t>AI security governance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2697480" cy="1463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4251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FF8C00"/>
                </a:solidFill>
                <a:latin typeface="Consolas"/>
              </a:defRPr>
            </a:pPr>
            <a:r>
              <a:t>40%+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006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allocate less than 10%</a:t>
            </a:r>
            <a:br/>
            <a:r>
              <a:t>of budget to AI 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4114800"/>
            <a:ext cx="2697480" cy="14630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F8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425196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2600" b="1">
                <a:solidFill>
                  <a:srgbClr val="FF8C00"/>
                </a:solidFill>
                <a:latin typeface="Consolas"/>
              </a:defRPr>
            </a:pPr>
            <a:r>
              <a:t>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8006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888888"/>
                </a:solidFill>
                <a:latin typeface="Segoe UI"/>
              </a:defRPr>
            </a:pPr>
            <a:r>
              <a:t>now assessing AI tool security</a:t>
            </a:r>
            <a:br/>
            <a:r>
              <a:t>(up from 37% in 2025, WEF)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>
                <a:solidFill>
                  <a:srgbClr val="888888"/>
                </a:solidFill>
                <a:latin typeface="Consolas"/>
              </a:defRPr>
            </a:pPr>
            <a:r>
              <a:t>Sources: Cisco State of AI Security 2026, WEF Global Cybersecurity Outlook 2026, Help Net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FF41"/>
                </a:solidFill>
                <a:latin typeface="Consolas"/>
              </a:defRPr>
            </a:pPr>
            <a:r>
              <a:t>// DEFENSE IN DEPTH — LAYERED LLM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37160" cy="640080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332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0044"/>
                </a:solidFill>
                <a:latin typeface="Consolas"/>
              </a:defRPr>
            </a:pPr>
            <a:r>
              <a:t>LAYER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033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INPUT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33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Prompt injection detection, input sanitization, length/encoding limits, multi-layer pattern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0332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Demos 01,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137160" cy="64008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8C00"/>
                </a:solidFill>
                <a:latin typeface="Consolas"/>
              </a:defRPr>
            </a:pPr>
            <a:r>
              <a:t>LAYER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8379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RETRIEVAL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379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RAG access control, document trust scoring, embedding anomaly detection, metadata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8379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Demos 03, 07, 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60904"/>
            <a:ext cx="137160" cy="6400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6426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FFD700"/>
                </a:solidFill>
                <a:latin typeface="Consolas"/>
              </a:defRPr>
            </a:pPr>
            <a:r>
              <a:t>LAYER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6426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MODEL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426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Content safety filters, prompt shields, jailbreak detection, custom category moderation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6426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Demos 12, 19–25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65576"/>
            <a:ext cx="137160" cy="64008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447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00FF41"/>
                </a:solidFill>
                <a:latin typeface="Consolas"/>
              </a:defRPr>
            </a:pPr>
            <a:r>
              <a:t>LAYER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472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OUTPUT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447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PII/secret detection, content filtering, hallucination/groundedness checks, format 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447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Demos 08, 21, 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70248"/>
            <a:ext cx="137160" cy="6400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251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00E5FF"/>
                </a:solidFill>
                <a:latin typeface="Consolas"/>
              </a:defRPr>
            </a:pPr>
            <a:r>
              <a:t>LAYER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AGENT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Least-privilege tool access, human-in-the-loop approval, execution sandboxing, audit logging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251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Demos 05, 09, 24,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74920"/>
            <a:ext cx="137160" cy="64008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056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BB86FC"/>
                </a:solidFill>
                <a:latin typeface="Consolas"/>
              </a:defRPr>
            </a:pPr>
            <a:r>
              <a:t>LAYER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056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  <a:latin typeface="Consolas"/>
              </a:defRPr>
            </a:pPr>
            <a: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0566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Rate limiting, identity management, key vault, API gateway governance, red team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056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Demos 27–29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89320"/>
            <a:ext cx="11277295" cy="320040"/>
          </a:xfrm>
          <a:prstGeom prst="roundRect">
            <a:avLst/>
          </a:prstGeom>
          <a:solidFill>
            <a:srgbClr val="003311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007608"/>
            <a:ext cx="109617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00FF41"/>
                </a:solidFill>
                <a:latin typeface="Consolas"/>
              </a:defRPr>
            </a:pPr>
            <a:r>
              <a:t>Layered guardrails catch 95% of safety issues before reaching users. Parallel execution: 200ms serial → 70ms.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HACKING AND SECURING LLMs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E5FF"/>
                </a:solidFill>
                <a:latin typeface="Consolas"/>
              </a:defRPr>
            </a:pPr>
            <a:r>
              <a:t>// ENTERPRISE DEFENSE STACK — TOOLS &amp; FRAMEWORKS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0E5FF"/>
                </a:solidFill>
                <a:latin typeface="Consolas"/>
              </a:defRPr>
            </a:pPr>
            <a:r>
              <a:t>CLOUD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39496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Azure AI Content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Text/image harm detection, Prompt Shields, groundedness,</a:t>
            </a:r>
            <a:br/>
            <a:r>
              <a:t>protected material, custom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39496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Azure AI Foundry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Red Teaming Agent, Agent Service guardrails,</a:t>
            </a:r>
            <a:br/>
            <a:r>
              <a:t>OTel observability, managed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0440"/>
            <a:ext cx="539496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593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Azure APIM + Key Vault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679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Rate limiting, token governance, cost control,</a:t>
            </a:r>
            <a:br/>
            <a:r>
              <a:t>passwordless credential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72000"/>
            <a:ext cx="539496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645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NVIDIA NeMo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194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Colang DSL, 5-stage pipeline, NIM microservice,</a:t>
            </a:r>
            <a:br/>
            <a:r>
              <a:t>content safety + jailbreak detection NIMs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0FF41"/>
                </a:solidFill>
                <a:latin typeface="Consolas"/>
              </a:defRPr>
            </a:pPr>
            <a:r>
              <a:t>OPEN-SOURCE / RED TEAM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17320"/>
            <a:ext cx="54864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490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PyRIT (Microsoft)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647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Programmatic orchestration, multi-turn attacks,</a:t>
            </a:r>
            <a:br/>
            <a:r>
              <a:t>converters/scorers, 3,400+ GitHub stars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468880"/>
            <a:ext cx="54864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5420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Garak (NVIDIA)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163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100+ attack modules, security-framework mapping,</a:t>
            </a:r>
            <a:br/>
            <a:r>
              <a:t>automated vulnerability scanning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20440"/>
            <a:ext cx="54864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5935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Guardrails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679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Guard pipelines, Guardrails Hub validators,</a:t>
            </a:r>
            <a:br/>
            <a:r>
              <a:t>Guardrails Index benchmark (24 guardrails)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572000"/>
            <a:ext cx="5486400" cy="868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645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  <a:r>
              <a:t>Promptfoo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1947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Segoe UI"/>
              </a:defRPr>
            </a:pPr>
            <a:r>
              <a:t>Developer-friendly red teaming, CI/CD integration,</a:t>
            </a:r>
            <a:br/>
            <a:r>
              <a:t>OWASP/NIST compliance mapping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60720"/>
            <a:ext cx="11277295" cy="64008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BB86FC"/>
                </a:solidFill>
                <a:latin typeface="Consolas"/>
              </a:defRPr>
            </a:pPr>
            <a:r>
              <a:t>ALSO:  Llama Guard (Meta) • DeepTeam (Confident AI, 40+ vuln classes) • Novee (autonomous black-box offensive sim) • Splx AI • Giskard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HACKING AND SECURING LLMs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0044"/>
                </a:solidFill>
                <a:latin typeface="Consolas"/>
              </a:defRPr>
            </a:pPr>
            <a:r>
              <a:t>// RED TEAMING &amp; CONTINUOUS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If you’re not actively attacking your LLM system, someone else is.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600" b="0">
                <a:solidFill>
                  <a:srgbClr val="888888"/>
                </a:solidFill>
                <a:latin typeface="Segoe UI"/>
              </a:defRPr>
            </a:pPr>
            <a:r>
              <a:t>SPLX jailbroke GPT-5 within 24 hours of its January 2026 release. Every model ships with exploitable surfaces.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566160" cy="3474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0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3566160" cy="411480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441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F0F0F"/>
                </a:solidFill>
                <a:latin typeface="Consolas"/>
              </a:defRPr>
            </a:pPr>
            <a:r>
              <a:t>PRE-DEPLOYMENT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Automated adversarial evaluation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Multi-turn attack simulation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OWASP LLM Top 10 coverage testing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Prompt injection fuzzing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Output safety boundary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77440"/>
            <a:ext cx="3566160" cy="3474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2377440"/>
            <a:ext cx="3566160" cy="4114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441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F0F0F"/>
                </a:solidFill>
                <a:latin typeface="Consolas"/>
              </a:defRPr>
            </a:pPr>
            <a:r>
              <a:t>CONTINUOUS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926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Real-time content safety scoring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Anomaly detection on tool calls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Drift detection on guardrail efficacy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Cost and token abuse alerting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Audit logging for every LLM interaction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3566160" cy="34747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2377440"/>
            <a:ext cx="3566160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2441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F0F0F"/>
                </a:solidFill>
                <a:latin typeface="Consolas"/>
              </a:defRPr>
            </a:pPr>
            <a:r>
              <a:t>INCIDENT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Prompt injection triage playbooks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Model rollback and hotfix procedures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Guardrail emergency escalation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Post-incident red team re-evaluation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Regulatory notification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Frameworks: NIST AI RMF  •  MITRE ATLAS  •  OWASP GenAI Red Teaming Guide (Jan 2025)  •  EU AI Act (mandates red teaming for high-risk systems)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HACKING AND SECURING LLMs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BB86FC"/>
                </a:solidFill>
                <a:latin typeface="Consolas"/>
              </a:defRPr>
            </a:pPr>
            <a:r>
              <a:t>// REGULATORY LANDSCAPE — COMPLIANCE IS COMING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BB86FC"/>
                </a:solidFill>
                <a:latin typeface="Consolas"/>
              </a:defRPr>
            </a:pPr>
            <a:r>
              <a:t>EU AI ACT ENFORCEMENT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82880" cy="18288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783080"/>
            <a:ext cx="36576" cy="100584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00FF41"/>
                </a:solidFill>
                <a:latin typeface="Consolas"/>
              </a:defRPr>
            </a:pPr>
            <a:r>
              <a:t>Aug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General-purpose AI rules apply;</a:t>
            </a:r>
            <a:br/>
            <a:r>
              <a:t>member states designate authorities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182880" cy="182880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2971800"/>
            <a:ext cx="36576" cy="100584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0044"/>
                </a:solidFill>
                <a:latin typeface="Consolas"/>
              </a:defRPr>
            </a:pPr>
            <a:r>
              <a:t>Aug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71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FULL ENFORCEMENT — high-risk AI systems,</a:t>
            </a:r>
            <a:br/>
            <a:r>
              <a:t>transparency rules, penalties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77640"/>
            <a:ext cx="182880" cy="18288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D700"/>
                </a:solidFill>
                <a:latin typeface="Consolas"/>
              </a:defRPr>
            </a:pPr>
            <a:r>
              <a:t>Aug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Pre-existing GPAI models must comply;</a:t>
            </a:r>
            <a:br/>
            <a:r>
              <a:t>all transition periods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0E5FF"/>
                </a:solidFill>
                <a:latin typeface="Consolas"/>
              </a:defRPr>
            </a:pPr>
            <a:r>
              <a:t>US AI POLICY (2025–2026)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"America's AI Action Plan" + 3 Executive Orders (Jul 2025): AI development, federal procurement, infrastructure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Dec 2025 EO: National AI policy framework; DOJ AI Litigation Task Force to challenge state AI laws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NIST directed to revise AI Risk Management Framework (AI RMF) with updated threat taxonomies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Focus on innovation acceleration with lighter regulatory touch vs. EU comprehensive approach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11277295" cy="118872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BB8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B86FC"/>
                </a:solidFill>
                <a:latin typeface="Consolas"/>
              </a:defRPr>
            </a:pPr>
            <a:r>
              <a:t>WHAT THIS MEANS FOR YOU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If you deploy AI in the EU, you must red-team high-risk systems and maintain transparency documentation by Aug 2026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In the US, NIST AI RMF is the de-facto standard for demonstrating due diligence, even without binding law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CCCCCC"/>
                </a:solidFill>
                <a:latin typeface="Segoe UI"/>
              </a:defRPr>
            </a:pPr>
            <a:r>
              <a:t>▸  IBM X-Force 2026: 44% increase in attacks exploiting public-facing applications, driven by AI-enabled vulnerability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888888"/>
                </a:solidFill>
                <a:latin typeface="Consolas"/>
              </a:defRPr>
            </a:pPr>
            <a:r>
              <a:t>HACKING AND SECURING LLMs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1100" b="0" dirty="0">
                <a:solidFill>
                  <a:srgbClr val="888888"/>
                </a:solidFill>
                <a:latin typeface="Consolas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3777866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9400"/>
            <a:ext cx="11277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400" b="0" dirty="0">
                <a:solidFill>
                  <a:srgbClr val="BB86FC"/>
                </a:solidFill>
                <a:latin typeface="Consolas"/>
              </a:rPr>
              <a:t>// DEFENDING WITH AZURE AI FOUNDRY</a:t>
            </a:r>
          </a:p>
        </p:txBody>
      </p:sp>
      <p:sp>
        <p:nvSpPr>
          <p:cNvPr id="3" name="Divider"/>
          <p:cNvSpPr/>
          <p:nvPr/>
        </p:nvSpPr>
        <p:spPr>
          <a:xfrm>
            <a:off x="457200" y="825500"/>
            <a:ext cx="1127760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" name="SectionLeft"/>
          <p:cNvSpPr/>
          <p:nvPr/>
        </p:nvSpPr>
        <p:spPr>
          <a:xfrm>
            <a:off x="457200" y="1054100"/>
            <a:ext cx="54864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BB86FC"/>
                </a:solidFill>
                <a:latin typeface="Consolas"/>
              </a:rPr>
              <a:t>BUILT-IN GUARDRAILS</a:t>
            </a:r>
          </a:p>
        </p:txBody>
      </p:sp>
      <p:sp>
        <p:nvSpPr>
          <p:cNvPr id="10" name="Accent10"/>
          <p:cNvSpPr/>
          <p:nvPr/>
        </p:nvSpPr>
        <p:spPr>
          <a:xfrm>
            <a:off x="584200" y="1587500"/>
            <a:ext cx="177800" cy="1778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1" name="Line10"/>
          <p:cNvSpPr/>
          <p:nvPr/>
        </p:nvSpPr>
        <p:spPr>
          <a:xfrm>
            <a:off x="660400" y="1765300"/>
            <a:ext cx="38100" cy="1092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2" name="CardTitle10"/>
          <p:cNvSpPr/>
          <p:nvPr/>
        </p:nvSpPr>
        <p:spPr>
          <a:xfrm>
            <a:off x="889000" y="1511300"/>
            <a:ext cx="47498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00FF41"/>
                </a:solidFill>
                <a:latin typeface="Consolas"/>
              </a:rPr>
              <a:t>PROMPT SHIELDS</a:t>
            </a:r>
          </a:p>
        </p:txBody>
      </p:sp>
      <p:sp>
        <p:nvSpPr>
          <p:cNvPr id="13" name="CardDesc10"/>
          <p:cNvSpPr/>
          <p:nvPr/>
        </p:nvSpPr>
        <p:spPr>
          <a:xfrm>
            <a:off x="889000" y="1816100"/>
            <a:ext cx="4749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Real-time detection of direct jailbreaks and indirect prompt injection from docs, emails, and web content. Spotlighting separates trusted vs. untrusted inputs.</a:t>
            </a:r>
          </a:p>
        </p:txBody>
      </p:sp>
      <p:sp>
        <p:nvSpPr>
          <p:cNvPr id="14" name="Accent14"/>
          <p:cNvSpPr/>
          <p:nvPr/>
        </p:nvSpPr>
        <p:spPr>
          <a:xfrm>
            <a:off x="6096000" y="1587500"/>
            <a:ext cx="177800" cy="177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5" name="Line14"/>
          <p:cNvSpPr/>
          <p:nvPr/>
        </p:nvSpPr>
        <p:spPr>
          <a:xfrm>
            <a:off x="6172200" y="1765300"/>
            <a:ext cx="38100" cy="1092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6" name="CardTitle14"/>
          <p:cNvSpPr/>
          <p:nvPr/>
        </p:nvSpPr>
        <p:spPr>
          <a:xfrm>
            <a:off x="6400800" y="1511300"/>
            <a:ext cx="47498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00E5FF"/>
                </a:solidFill>
                <a:latin typeface="Consolas"/>
              </a:rPr>
              <a:t>CONTENT SAFETY FILTERS</a:t>
            </a:r>
          </a:p>
        </p:txBody>
      </p:sp>
      <p:sp>
        <p:nvSpPr>
          <p:cNvPr id="17" name="CardDesc14"/>
          <p:cNvSpPr/>
          <p:nvPr/>
        </p:nvSpPr>
        <p:spPr>
          <a:xfrm>
            <a:off x="6400800" y="1816100"/>
            <a:ext cx="4749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Configurable severity thresholds for hate, violence, sexual, and self-harm content. Custom blocklists and custom categories with one-line training.</a:t>
            </a:r>
          </a:p>
        </p:txBody>
      </p:sp>
      <p:sp>
        <p:nvSpPr>
          <p:cNvPr id="18" name="Accent18"/>
          <p:cNvSpPr/>
          <p:nvPr/>
        </p:nvSpPr>
        <p:spPr>
          <a:xfrm>
            <a:off x="584200" y="3263900"/>
            <a:ext cx="177800" cy="177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9" name="Line18"/>
          <p:cNvSpPr/>
          <p:nvPr/>
        </p:nvSpPr>
        <p:spPr>
          <a:xfrm>
            <a:off x="660400" y="3441700"/>
            <a:ext cx="38100" cy="1092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0" name="CardTitle18"/>
          <p:cNvSpPr/>
          <p:nvPr/>
        </p:nvSpPr>
        <p:spPr>
          <a:xfrm>
            <a:off x="889000" y="3187700"/>
            <a:ext cx="47498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FFD700"/>
                </a:solidFill>
                <a:latin typeface="Consolas"/>
              </a:rPr>
              <a:t>GROUNDEDNESS DETECTION</a:t>
            </a:r>
          </a:p>
        </p:txBody>
      </p:sp>
      <p:sp>
        <p:nvSpPr>
          <p:cNvPr id="21" name="CardDesc18"/>
          <p:cNvSpPr/>
          <p:nvPr/>
        </p:nvSpPr>
        <p:spPr>
          <a:xfrm>
            <a:off x="889000" y="3492500"/>
            <a:ext cx="4749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Automatically detects hallucinations by checking AI outputs against source documents. Includes reasoning and auto-correction capabilities.</a:t>
            </a:r>
          </a:p>
        </p:txBody>
      </p:sp>
      <p:sp>
        <p:nvSpPr>
          <p:cNvPr id="22" name="Accent22"/>
          <p:cNvSpPr/>
          <p:nvPr/>
        </p:nvSpPr>
        <p:spPr>
          <a:xfrm>
            <a:off x="6096000" y="3263900"/>
            <a:ext cx="177800" cy="177800"/>
          </a:xfrm>
          <a:prstGeom prst="rect">
            <a:avLst/>
          </a:prstGeom>
          <a:solidFill>
            <a:srgbClr val="FF0044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3" name="Line22"/>
          <p:cNvSpPr/>
          <p:nvPr/>
        </p:nvSpPr>
        <p:spPr>
          <a:xfrm>
            <a:off x="6172200" y="3441700"/>
            <a:ext cx="38100" cy="10922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4" name="CardTitle22"/>
          <p:cNvSpPr/>
          <p:nvPr/>
        </p:nvSpPr>
        <p:spPr>
          <a:xfrm>
            <a:off x="6400800" y="3187700"/>
            <a:ext cx="47498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FF0044"/>
                </a:solidFill>
                <a:latin typeface="Consolas"/>
              </a:rPr>
              <a:t>PROTECTED MATERIAL</a:t>
            </a:r>
          </a:p>
        </p:txBody>
      </p:sp>
      <p:sp>
        <p:nvSpPr>
          <p:cNvPr id="25" name="CardDesc22"/>
          <p:cNvSpPr/>
          <p:nvPr/>
        </p:nvSpPr>
        <p:spPr>
          <a:xfrm>
            <a:off x="6400800" y="3492500"/>
            <a:ext cx="4749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Identifies copyrighted text (lyrics, articles, recipes) and code from public GitHub repos in AI outputs. Prevents IP infringement at the API layer.</a:t>
            </a:r>
          </a:p>
        </p:txBody>
      </p:sp>
      <p:sp>
        <p:nvSpPr>
          <p:cNvPr id="30" name="CalloutBox"/>
          <p:cNvSpPr/>
          <p:nvPr/>
        </p:nvSpPr>
        <p:spPr>
          <a:xfrm>
            <a:off x="457200" y="4889500"/>
            <a:ext cx="11277600" cy="13208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31" name="CalloutText"/>
          <p:cNvSpPr/>
          <p:nvPr/>
        </p:nvSpPr>
        <p:spPr>
          <a:xfrm>
            <a:off x="635000" y="4940300"/>
            <a:ext cx="109728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1" dirty="0">
                <a:solidFill>
                  <a:srgbClr val="BB86FC"/>
                </a:solidFill>
                <a:latin typeface="Consolas"/>
              </a:rPr>
              <a:t>KEY INSIGHT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▸  All guardrails run as middleware — pre-model (input) and post-model (output) — so they apply to every model in the catalog without code changes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▸  Supports 100+ languages; deployable on cloud, on-premises, and on-device</a:t>
            </a:r>
          </a:p>
        </p:txBody>
      </p:sp>
      <p:sp>
        <p:nvSpPr>
          <p:cNvPr id="40" name="Footer"/>
          <p:cNvSpPr/>
          <p:nvPr/>
        </p:nvSpPr>
        <p:spPr>
          <a:xfrm>
            <a:off x="457200" y="6400800"/>
            <a:ext cx="4572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0" dirty="0">
                <a:solidFill>
                  <a:srgbClr val="888888"/>
                </a:solidFill>
                <a:latin typeface="Consolas"/>
              </a:rPr>
              <a:t>HACKING AND SECURING LLMs</a:t>
            </a:r>
          </a:p>
        </p:txBody>
      </p:sp>
      <p:sp>
        <p:nvSpPr>
          <p:cNvPr id="41" name="SlideNum"/>
          <p:cNvSpPr/>
          <p:nvPr/>
        </p:nvSpPr>
        <p:spPr>
          <a:xfrm>
            <a:off x="10515600" y="6400800"/>
            <a:ext cx="13716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1100" b="0" dirty="0">
                <a:solidFill>
                  <a:srgbClr val="888888"/>
                </a:solidFill>
                <a:latin typeface="Consolas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140194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9400"/>
            <a:ext cx="11277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400" b="0" dirty="0">
                <a:solidFill>
                  <a:srgbClr val="BB86FC"/>
                </a:solidFill>
                <a:latin typeface="Consolas"/>
              </a:rPr>
              <a:t>// AZURE AI FOUNDRY — DEFENSE IN DEPTH</a:t>
            </a:r>
          </a:p>
        </p:txBody>
      </p:sp>
      <p:sp>
        <p:nvSpPr>
          <p:cNvPr id="3" name="Divider"/>
          <p:cNvSpPr/>
          <p:nvPr/>
        </p:nvSpPr>
        <p:spPr>
          <a:xfrm>
            <a:off x="457200" y="825500"/>
            <a:ext cx="1127760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" name="LeftHeader"/>
          <p:cNvSpPr/>
          <p:nvPr/>
        </p:nvSpPr>
        <p:spPr>
          <a:xfrm>
            <a:off x="457200" y="1054100"/>
            <a:ext cx="54864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BB86FC"/>
                </a:solidFill>
                <a:latin typeface="Consolas"/>
              </a:rPr>
              <a:t>PLATFORM SECURITY</a:t>
            </a:r>
          </a:p>
        </p:txBody>
      </p:sp>
      <p:sp>
        <p:nvSpPr>
          <p:cNvPr id="5" name="RightHeader"/>
          <p:cNvSpPr/>
          <p:nvPr/>
        </p:nvSpPr>
        <p:spPr>
          <a:xfrm>
            <a:off x="6223000" y="1054100"/>
            <a:ext cx="54864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00E5FF"/>
                </a:solidFill>
                <a:latin typeface="Consolas"/>
              </a:rPr>
              <a:t>RUNTIME PROTECTION</a:t>
            </a:r>
          </a:p>
        </p:txBody>
      </p:sp>
      <p:sp>
        <p:nvSpPr>
          <p:cNvPr id="10" name="LeftBar0"/>
          <p:cNvSpPr/>
          <p:nvPr/>
        </p:nvSpPr>
        <p:spPr>
          <a:xfrm>
            <a:off x="457200" y="1460500"/>
            <a:ext cx="50800" cy="9144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1" name="LeftTitle0"/>
          <p:cNvSpPr/>
          <p:nvPr/>
        </p:nvSpPr>
        <p:spPr>
          <a:xfrm>
            <a:off x="635000" y="1460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1" dirty="0">
                <a:solidFill>
                  <a:srgbClr val="00FF41"/>
                </a:solidFill>
                <a:latin typeface="Consolas"/>
              </a:rPr>
              <a:t>Zero-Trust Architecture</a:t>
            </a:r>
          </a:p>
        </p:txBody>
      </p:sp>
      <p:sp>
        <p:nvSpPr>
          <p:cNvPr id="12" name="LeftDesc0"/>
          <p:cNvSpPr/>
          <p:nvPr/>
        </p:nvSpPr>
        <p:spPr>
          <a:xfrm>
            <a:off x="635000" y="17399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Models run isolated in Azure VMs with no breakout capability. No runtime connections to model providers — 100% hosted by Microsoft.</a:t>
            </a:r>
          </a:p>
        </p:txBody>
      </p:sp>
      <p:sp>
        <p:nvSpPr>
          <p:cNvPr id="14" name="LeftBar1"/>
          <p:cNvSpPr/>
          <p:nvPr/>
        </p:nvSpPr>
        <p:spPr>
          <a:xfrm>
            <a:off x="457200" y="2451100"/>
            <a:ext cx="508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5" name="LeftTitle1"/>
          <p:cNvSpPr/>
          <p:nvPr/>
        </p:nvSpPr>
        <p:spPr>
          <a:xfrm>
            <a:off x="635000" y="24511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1" dirty="0">
                <a:solidFill>
                  <a:srgbClr val="FFD700"/>
                </a:solidFill>
                <a:latin typeface="Consolas"/>
              </a:rPr>
              <a:t>Model Security Scanning</a:t>
            </a:r>
          </a:p>
        </p:txBody>
      </p:sp>
      <p:sp>
        <p:nvSpPr>
          <p:cNvPr id="16" name="LeftDesc1"/>
          <p:cNvSpPr/>
          <p:nvPr/>
        </p:nvSpPr>
        <p:spPr>
          <a:xfrm>
            <a:off x="635000" y="27305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Pre-release malware analysis, vulnerability testing, and continuous monitoring for all catalog models. Model cards for risk assessment.</a:t>
            </a:r>
          </a:p>
        </p:txBody>
      </p:sp>
      <p:sp>
        <p:nvSpPr>
          <p:cNvPr id="18" name="LeftBar2"/>
          <p:cNvSpPr/>
          <p:nvPr/>
        </p:nvSpPr>
        <p:spPr>
          <a:xfrm>
            <a:off x="457200" y="3441700"/>
            <a:ext cx="50800" cy="914400"/>
          </a:xfrm>
          <a:prstGeom prst="rect">
            <a:avLst/>
          </a:prstGeom>
          <a:solidFill>
            <a:srgbClr val="FF0044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19" name="LeftTitle2"/>
          <p:cNvSpPr/>
          <p:nvPr/>
        </p:nvSpPr>
        <p:spPr>
          <a:xfrm>
            <a:off x="635000" y="34417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1" dirty="0">
                <a:solidFill>
                  <a:srgbClr val="FF0044"/>
                </a:solidFill>
                <a:latin typeface="Consolas"/>
              </a:rPr>
              <a:t>Data Sovereignty</a:t>
            </a:r>
          </a:p>
        </p:txBody>
      </p:sp>
      <p:sp>
        <p:nvSpPr>
          <p:cNvPr id="20" name="LeftDesc2"/>
          <p:cNvSpPr/>
          <p:nvPr/>
        </p:nvSpPr>
        <p:spPr>
          <a:xfrm>
            <a:off x="635000" y="37211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Customer data never used to train shared models. Inputs/outputs treated as customer content with same protections as docs and email.</a:t>
            </a:r>
          </a:p>
        </p:txBody>
      </p:sp>
      <p:sp>
        <p:nvSpPr>
          <p:cNvPr id="22" name="LeftBar3"/>
          <p:cNvSpPr/>
          <p:nvPr/>
        </p:nvSpPr>
        <p:spPr>
          <a:xfrm>
            <a:off x="457200" y="4432300"/>
            <a:ext cx="5080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3" name="LeftTitle3"/>
          <p:cNvSpPr/>
          <p:nvPr/>
        </p:nvSpPr>
        <p:spPr>
          <a:xfrm>
            <a:off x="635000" y="44323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1" dirty="0">
                <a:solidFill>
                  <a:srgbClr val="BB86FC"/>
                </a:solidFill>
                <a:latin typeface="Consolas"/>
              </a:rPr>
              <a:t>Identity &amp; Access Control</a:t>
            </a:r>
          </a:p>
        </p:txBody>
      </p:sp>
      <p:sp>
        <p:nvSpPr>
          <p:cNvPr id="24" name="LeftDesc3"/>
          <p:cNvSpPr/>
          <p:nvPr/>
        </p:nvSpPr>
        <p:spPr>
          <a:xfrm>
            <a:off x="635000" y="47117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Azure Managed Identities, Entra ID conditional access, Key Vault for secrets. No hardcoded credentials in code.</a:t>
            </a:r>
          </a:p>
        </p:txBody>
      </p:sp>
      <p:sp>
        <p:nvSpPr>
          <p:cNvPr id="30" name="RightBar0"/>
          <p:cNvSpPr/>
          <p:nvPr/>
        </p:nvSpPr>
        <p:spPr>
          <a:xfrm>
            <a:off x="6223000" y="1460500"/>
            <a:ext cx="50800" cy="914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31" name="RightTitle0"/>
          <p:cNvSpPr/>
          <p:nvPr/>
        </p:nvSpPr>
        <p:spPr>
          <a:xfrm>
            <a:off x="6400800" y="14605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1" dirty="0">
                <a:solidFill>
                  <a:srgbClr val="00E5FF"/>
                </a:solidFill>
                <a:latin typeface="Consolas"/>
              </a:rPr>
              <a:t>Defender for Cloud</a:t>
            </a:r>
          </a:p>
        </p:txBody>
      </p:sp>
      <p:sp>
        <p:nvSpPr>
          <p:cNvPr id="32" name="RightDesc0"/>
          <p:cNvSpPr/>
          <p:nvPr/>
        </p:nvSpPr>
        <p:spPr>
          <a:xfrm>
            <a:off x="6400800" y="1739900"/>
            <a:ext cx="5308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AI security posture recommendations and runtime threat alerts directly in the Foundry dev environment. Proactive risk identification.</a:t>
            </a:r>
          </a:p>
        </p:txBody>
      </p:sp>
      <p:sp>
        <p:nvSpPr>
          <p:cNvPr id="34" name="RightBar1"/>
          <p:cNvSpPr/>
          <p:nvPr/>
        </p:nvSpPr>
        <p:spPr>
          <a:xfrm>
            <a:off x="6223000" y="2451100"/>
            <a:ext cx="50800" cy="91440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35" name="RightTitle1"/>
          <p:cNvSpPr/>
          <p:nvPr/>
        </p:nvSpPr>
        <p:spPr>
          <a:xfrm>
            <a:off x="6400800" y="24511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1" dirty="0">
                <a:solidFill>
                  <a:srgbClr val="00FF41"/>
                </a:solidFill>
                <a:latin typeface="Consolas"/>
              </a:rPr>
              <a:t>Red-Teaming Agent</a:t>
            </a:r>
          </a:p>
        </p:txBody>
      </p:sp>
      <p:sp>
        <p:nvSpPr>
          <p:cNvPr id="36" name="RightDesc1"/>
          <p:cNvSpPr/>
          <p:nvPr/>
        </p:nvSpPr>
        <p:spPr>
          <a:xfrm>
            <a:off x="6400800" y="2730500"/>
            <a:ext cx="5308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Automated adversarial probing to identify known risks at scale. Generates adversarial datasets for safety evaluation and shift-left testing.</a:t>
            </a:r>
          </a:p>
        </p:txBody>
      </p:sp>
      <p:sp>
        <p:nvSpPr>
          <p:cNvPr id="38" name="RightBar2"/>
          <p:cNvSpPr/>
          <p:nvPr/>
        </p:nvSpPr>
        <p:spPr>
          <a:xfrm>
            <a:off x="6223000" y="3441700"/>
            <a:ext cx="508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39" name="RightTitle2"/>
          <p:cNvSpPr/>
          <p:nvPr/>
        </p:nvSpPr>
        <p:spPr>
          <a:xfrm>
            <a:off x="6400800" y="34417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1" dirty="0">
                <a:solidFill>
                  <a:srgbClr val="FFD700"/>
                </a:solidFill>
                <a:latin typeface="Consolas"/>
              </a:rPr>
              <a:t>Observability Pipeline</a:t>
            </a:r>
          </a:p>
        </p:txBody>
      </p:sp>
      <p:sp>
        <p:nvSpPr>
          <p:cNvPr id="40" name="RightDesc2"/>
          <p:cNvSpPr/>
          <p:nvPr/>
        </p:nvSpPr>
        <p:spPr>
          <a:xfrm>
            <a:off x="6400800" y="3721100"/>
            <a:ext cx="5308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Log prompts, trace tool invocations, track token usage, capture safety classifier scores. Export to Azure Monitor and SIEM systems.</a:t>
            </a:r>
          </a:p>
        </p:txBody>
      </p:sp>
      <p:sp>
        <p:nvSpPr>
          <p:cNvPr id="42" name="RightBar3"/>
          <p:cNvSpPr/>
          <p:nvPr/>
        </p:nvSpPr>
        <p:spPr>
          <a:xfrm>
            <a:off x="6223000" y="4432300"/>
            <a:ext cx="50800" cy="914400"/>
          </a:xfrm>
          <a:prstGeom prst="rect">
            <a:avLst/>
          </a:prstGeom>
          <a:solidFill>
            <a:srgbClr val="FF0044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43" name="RightTitle3"/>
          <p:cNvSpPr/>
          <p:nvPr/>
        </p:nvSpPr>
        <p:spPr>
          <a:xfrm>
            <a:off x="6400800" y="44323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1400" b="1" dirty="0">
                <a:solidFill>
                  <a:srgbClr val="FF0044"/>
                </a:solidFill>
                <a:latin typeface="Consolas"/>
              </a:rPr>
              <a:t>Risk &amp; Safety Evaluations</a:t>
            </a:r>
          </a:p>
        </p:txBody>
      </p:sp>
      <p:sp>
        <p:nvSpPr>
          <p:cNvPr id="44" name="RightDesc3"/>
          <p:cNvSpPr/>
          <p:nvPr/>
        </p:nvSpPr>
        <p:spPr>
          <a:xfrm>
            <a:off x="6400800" y="4711700"/>
            <a:ext cx="5308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CCCCCC"/>
                </a:solidFill>
                <a:latin typeface="Segoe UI"/>
              </a:rPr>
              <a:t>Evaluate app outputs for content risks, jailbreak vulnerabilities, and grounding quality before production deployment.</a:t>
            </a:r>
          </a:p>
        </p:txBody>
      </p:sp>
      <p:sp>
        <p:nvSpPr>
          <p:cNvPr id="50" name="BottomDivider"/>
          <p:cNvSpPr/>
          <p:nvPr/>
        </p:nvSpPr>
        <p:spPr>
          <a:xfrm>
            <a:off x="457200" y="5588000"/>
            <a:ext cx="1127760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51" name="BottomNote"/>
          <p:cNvSpPr/>
          <p:nvPr/>
        </p:nvSpPr>
        <p:spPr>
          <a:xfrm>
            <a:off x="635000" y="5715000"/>
            <a:ext cx="10972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1400" b="0" dirty="0">
                <a:solidFill>
                  <a:srgbClr val="888888"/>
                </a:solidFill>
                <a:latin typeface="Consolas"/>
              </a:rPr>
              <a:t>"Azure services do not assume that things running on Azure are safe" — Zero Trust by default</a:t>
            </a:r>
          </a:p>
        </p:txBody>
      </p:sp>
      <p:sp>
        <p:nvSpPr>
          <p:cNvPr id="60" name="Footer"/>
          <p:cNvSpPr/>
          <p:nvPr/>
        </p:nvSpPr>
        <p:spPr>
          <a:xfrm>
            <a:off x="457200" y="6400800"/>
            <a:ext cx="4572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000" b="0" dirty="0">
                <a:solidFill>
                  <a:srgbClr val="888888"/>
                </a:solidFill>
                <a:latin typeface="Consolas"/>
              </a:rPr>
              <a:t>HACKING AND SECURING LLMs</a:t>
            </a:r>
          </a:p>
        </p:txBody>
      </p:sp>
      <p:sp>
        <p:nvSpPr>
          <p:cNvPr id="61" name="SlideNum"/>
          <p:cNvSpPr/>
          <p:nvPr/>
        </p:nvSpPr>
        <p:spPr>
          <a:xfrm>
            <a:off x="10515600" y="6400800"/>
            <a:ext cx="13716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1100" b="0" dirty="0">
                <a:solidFill>
                  <a:srgbClr val="888888"/>
                </a:solidFill>
                <a:latin typeface="Consolas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2999135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00FF41"/>
                </a:solidFill>
                <a:latin typeface="Consolas"/>
              </a:defRPr>
            </a:pPr>
            <a:r>
              <a:t>//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7295" cy="254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09728" cy="594360"/>
          </a:xfrm>
          <a:prstGeom prst="rect">
            <a:avLst/>
          </a:prstGeom>
          <a:solidFill>
            <a:srgbClr val="FF0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78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FF0044"/>
                </a:solidFill>
                <a:latin typeface="Consolas"/>
              </a:defRPr>
            </a:pPr>
            <a:r>
              <a:t>PROMPT INJECTION IS UNSOLVED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73% of production LLM deployments are vulnerable. No single defense works. Layered security is the only viable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84248"/>
            <a:ext cx="109728" cy="5943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FFD700"/>
                </a:solidFill>
                <a:latin typeface="Consolas"/>
              </a:defRPr>
            </a:pPr>
            <a:r>
              <a:t>AGENTS ARE THE NEW FRONTIER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82% compromise rate via inter-agent communication. 80% of IT pros have already seen unauthorized agent actions. Tool boundaries matter.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25496"/>
            <a:ext cx="109728" cy="594360"/>
          </a:xfrm>
          <a:prstGeom prst="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FF8C00"/>
                </a:solidFill>
                <a:latin typeface="Consolas"/>
              </a:defRPr>
            </a:pPr>
            <a:r>
              <a:t>THE READINESS GAP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83% plan agentic AI, only 29% feel security-ready, only 5% are confident. Budget and governance are not keeping pace with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66744"/>
            <a:ext cx="109728" cy="59436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00FF41"/>
                </a:solidFill>
                <a:latin typeface="Consolas"/>
              </a:defRPr>
            </a:pPr>
            <a:r>
              <a:t>DEFENSE IN DEPTH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2277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Layered guardrails catch 95% of safety issues. Input, retrieval, model, output, agent, and infrastructure controls must all be present.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07992"/>
            <a:ext cx="109728" cy="594360"/>
          </a:xfrm>
          <a:prstGeom prst="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BB86FC"/>
                </a:solidFill>
                <a:latin typeface="Consolas"/>
              </a:defRPr>
            </a:pPr>
            <a:r>
              <a:t>REGULATION IS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640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EU AI Act full enforcement Aug 2026. NIST AI RMF is the US de-facto standard. Red teaming is becoming a legal requirement, not a best practice.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49240"/>
            <a:ext cx="109728" cy="59436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85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700" b="1">
                <a:solidFill>
                  <a:srgbClr val="00E5FF"/>
                </a:solidFill>
                <a:latin typeface="Consolas"/>
              </a:defRPr>
            </a:pPr>
            <a:r>
              <a:t>TEST LIKE AN ATTACKER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052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CCCCCC"/>
                </a:solidFill>
                <a:latin typeface="Segoe UI"/>
              </a:defRPr>
            </a:pPr>
            <a:r>
              <a:t>GPT-5 was jailbroken in 24 hours. Use PyRIT, Garak, Promptfoo. Automate adversarial evaluation. Monitor continuously. Ship with guardrails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11277295" cy="254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626364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00CC33"/>
                </a:solidFill>
                <a:latin typeface="Consolas"/>
              </a:defRPr>
            </a:pPr>
            <a:r>
              <a:t>github.com/greglevenhagen/hacking-and-securing-llms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lang="en-US" sz="1100" b="0" dirty="0">
                <a:solidFill>
                  <a:srgbClr val="888888"/>
                </a:solidFill>
                <a:latin typeface="Consolas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72190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A9DC30-084D-6F4B-B6CF-9633338F38B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c8fb814-7ee1-4d6b-bba7-e9ffa8c8e20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9761</TotalTime>
  <Words>2336</Words>
  <Application>Microsoft Macintosh PowerPoint</Application>
  <PresentationFormat>Widescreen</PresentationFormat>
  <Paragraphs>299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Greg Levenhagen</cp:lastModifiedBy>
  <cp:revision>4</cp:revision>
  <dcterms:created xsi:type="dcterms:W3CDTF">2013-01-27T09:14:16Z</dcterms:created>
  <dcterms:modified xsi:type="dcterms:W3CDTF">2026-04-17T14:36:51Z</dcterms:modified>
  <cp:category/>
</cp:coreProperties>
</file>